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b048376c54f37" /><Relationship Type="http://schemas.openxmlformats.org/officeDocument/2006/relationships/extended-properties" Target="/docProps/app.xml" Id="Rddbca7d97504485c" /><Relationship Type="http://schemas.openxmlformats.org/officeDocument/2006/relationships/officeDocument" Target="/ppt/presentation.xml" Id="Rbceb7ccf40f1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ac84be9034e9c"/>
  </p:sldMasterIdLst>
  <p:notesMasterIdLst>
    <p:notesMasterId xmlns:r="http://schemas.openxmlformats.org/officeDocument/2006/relationships" r:id="R2e618829d77041a1"/>
  </p:notesMasterIdLst>
  <p:sldIdLst>
    <p:sldId xmlns:r="http://schemas.openxmlformats.org/officeDocument/2006/relationships" id="256" r:id="R81b9776666704765"/>
    <p:sldId xmlns:r="http://schemas.openxmlformats.org/officeDocument/2006/relationships" id="257" r:id="R6de7974748354302"/>
    <p:sldId xmlns:r="http://schemas.openxmlformats.org/officeDocument/2006/relationships" id="258" r:id="Rab27b4620c164711"/>
    <p:sldId xmlns:r="http://schemas.openxmlformats.org/officeDocument/2006/relationships" id="259" r:id="R53cba465b81d4eda"/>
    <p:sldId xmlns:r="http://schemas.openxmlformats.org/officeDocument/2006/relationships" id="260" r:id="Rf5edea5bacd34f82"/>
    <p:sldId xmlns:r="http://schemas.openxmlformats.org/officeDocument/2006/relationships" id="261" r:id="Ra23ce690829946cf"/>
    <p:sldId xmlns:r="http://schemas.openxmlformats.org/officeDocument/2006/relationships" id="262" r:id="R0c0802c314444f9d"/>
    <p:sldId xmlns:r="http://schemas.openxmlformats.org/officeDocument/2006/relationships" id="263" r:id="R76c29a78571e4e4d"/>
    <p:sldId xmlns:r="http://schemas.openxmlformats.org/officeDocument/2006/relationships" id="264" r:id="Rb73cb720e4f8499d"/>
    <p:sldId xmlns:r="http://schemas.openxmlformats.org/officeDocument/2006/relationships" id="265" r:id="R058dadf45ee14cd7"/>
    <p:sldId xmlns:r="http://schemas.openxmlformats.org/officeDocument/2006/relationships" id="266" r:id="Rd78b0dfb18634c13"/>
    <p:sldId xmlns:r="http://schemas.openxmlformats.org/officeDocument/2006/relationships" id="267" r:id="Rd2356521e784476f"/>
    <p:sldId xmlns:r="http://schemas.openxmlformats.org/officeDocument/2006/relationships" id="268" r:id="Rdffe1558b85a43be"/>
    <p:sldId xmlns:r="http://schemas.openxmlformats.org/officeDocument/2006/relationships" id="269" r:id="R5d65bda0c9d0479e"/>
    <p:sldId xmlns:r="http://schemas.openxmlformats.org/officeDocument/2006/relationships" id="270" r:id="Rd141ffd75a374b3e"/>
    <p:sldId xmlns:r="http://schemas.openxmlformats.org/officeDocument/2006/relationships" id="271" r:id="R6c76a981eacc4718"/>
    <p:sldId xmlns:r="http://schemas.openxmlformats.org/officeDocument/2006/relationships" id="272" r:id="R0e31274029a643b2"/>
    <p:sldId xmlns:r="http://schemas.openxmlformats.org/officeDocument/2006/relationships" id="273" r:id="R70940f4585cc413e"/>
    <p:sldId xmlns:r="http://schemas.openxmlformats.org/officeDocument/2006/relationships" id="274" r:id="Rb45ed31427dc4a31"/>
    <p:sldId xmlns:r="http://schemas.openxmlformats.org/officeDocument/2006/relationships" id="275" r:id="R0cbce93ad6ce4057"/>
    <p:sldId xmlns:r="http://schemas.openxmlformats.org/officeDocument/2006/relationships" id="276" r:id="R491ac64e4bcd484b"/>
    <p:sldId xmlns:r="http://schemas.openxmlformats.org/officeDocument/2006/relationships" id="277" r:id="R13d52e7d628b42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14fbb3267e4375" /><Relationship Type="http://schemas.openxmlformats.org/officeDocument/2006/relationships/slideMaster" Target="/ppt/slideMasters/slideMaster1.xml" Id="R958ac84be9034e9c" /><Relationship Type="http://schemas.openxmlformats.org/officeDocument/2006/relationships/notesMaster" Target="/ppt/notesMasters/notesMaster1.xml" Id="R2e618829d77041a1" /><Relationship Type="http://schemas.openxmlformats.org/officeDocument/2006/relationships/presProps" Target="/ppt/presProps.xml" Id="Rb8de5eb02242449c" /><Relationship Type="http://schemas.openxmlformats.org/officeDocument/2006/relationships/tableStyles" Target="/ppt/tableStyles.xml" Id="R53aa77773cdf4b0c" /><Relationship Type="http://schemas.openxmlformats.org/officeDocument/2006/relationships/slide" Target="/ppt/slides/slide1.xml" Id="R81b9776666704765" /><Relationship Type="http://schemas.openxmlformats.org/officeDocument/2006/relationships/slide" Target="/ppt/slides/slide2.xml" Id="R6de7974748354302" /><Relationship Type="http://schemas.openxmlformats.org/officeDocument/2006/relationships/slide" Target="/ppt/slides/slide3.xml" Id="Rab27b4620c164711" /><Relationship Type="http://schemas.openxmlformats.org/officeDocument/2006/relationships/slide" Target="/ppt/slides/slide4.xml" Id="R53cba465b81d4eda" /><Relationship Type="http://schemas.openxmlformats.org/officeDocument/2006/relationships/slide" Target="/ppt/slides/slide5.xml" Id="Rf5edea5bacd34f82" /><Relationship Type="http://schemas.openxmlformats.org/officeDocument/2006/relationships/slide" Target="/ppt/slides/slide6.xml" Id="Ra23ce690829946cf" /><Relationship Type="http://schemas.openxmlformats.org/officeDocument/2006/relationships/slide" Target="/ppt/slides/slide7.xml" Id="R0c0802c314444f9d" /><Relationship Type="http://schemas.openxmlformats.org/officeDocument/2006/relationships/slide" Target="/ppt/slides/slide8.xml" Id="R76c29a78571e4e4d" /><Relationship Type="http://schemas.openxmlformats.org/officeDocument/2006/relationships/slide" Target="/ppt/slides/slide9.xml" Id="Rb73cb720e4f8499d" /><Relationship Type="http://schemas.openxmlformats.org/officeDocument/2006/relationships/slide" Target="/ppt/slides/slide10.xml" Id="R058dadf45ee14cd7" /><Relationship Type="http://schemas.openxmlformats.org/officeDocument/2006/relationships/slide" Target="/ppt/slides/slide11.xml" Id="Rd78b0dfb18634c13" /><Relationship Type="http://schemas.openxmlformats.org/officeDocument/2006/relationships/slide" Target="/ppt/slides/slide12.xml" Id="Rd2356521e784476f" /><Relationship Type="http://schemas.openxmlformats.org/officeDocument/2006/relationships/slide" Target="/ppt/slides/slide13.xml" Id="Rdffe1558b85a43be" /><Relationship Type="http://schemas.openxmlformats.org/officeDocument/2006/relationships/slide" Target="/ppt/slides/slide14.xml" Id="R5d65bda0c9d0479e" /><Relationship Type="http://schemas.openxmlformats.org/officeDocument/2006/relationships/slide" Target="/ppt/slides/slide15.xml" Id="Rd141ffd75a374b3e" /><Relationship Type="http://schemas.openxmlformats.org/officeDocument/2006/relationships/slide" Target="/ppt/slides/slide16.xml" Id="R6c76a981eacc4718" /><Relationship Type="http://schemas.openxmlformats.org/officeDocument/2006/relationships/slide" Target="/ppt/slides/slide17.xml" Id="R0e31274029a643b2" /><Relationship Type="http://schemas.openxmlformats.org/officeDocument/2006/relationships/slide" Target="/ppt/slides/slide18.xml" Id="R70940f4585cc413e" /><Relationship Type="http://schemas.openxmlformats.org/officeDocument/2006/relationships/slide" Target="/ppt/slides/slide19.xml" Id="Rb45ed31427dc4a31" /><Relationship Type="http://schemas.openxmlformats.org/officeDocument/2006/relationships/slide" Target="/ppt/slides/slide20.xml" Id="R0cbce93ad6ce4057" /><Relationship Type="http://schemas.openxmlformats.org/officeDocument/2006/relationships/slide" Target="/ppt/slides/slide21.xml" Id="R491ac64e4bcd484b" /><Relationship Type="http://schemas.openxmlformats.org/officeDocument/2006/relationships/slide" Target="/ppt/slides/slide22.xml" Id="R13d52e7d628b42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66f7be43a34f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48876bf42d4dbf" /><Relationship Type="http://schemas.openxmlformats.org/officeDocument/2006/relationships/notesMaster" Target="/ppt/notesMasters/notesMaster1.xml" Id="R35447a20efae48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eb5d5c55eb4d20" /><Relationship Type="http://schemas.openxmlformats.org/officeDocument/2006/relationships/notesMaster" Target="/ppt/notesMasters/notesMaster1.xml" Id="R4c261d85d207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9f563dda594a83" /><Relationship Type="http://schemas.openxmlformats.org/officeDocument/2006/relationships/notesMaster" Target="/ppt/notesMasters/notesMaster1.xml" Id="Rb631297f344d4d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0bb332277f4bf2" /><Relationship Type="http://schemas.openxmlformats.org/officeDocument/2006/relationships/notesMaster" Target="/ppt/notesMasters/notesMaster1.xml" Id="Ra6fa26a83b4e42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77a2cf3c049b2" /><Relationship Type="http://schemas.openxmlformats.org/officeDocument/2006/relationships/notesMaster" Target="/ppt/notesMasters/notesMaster1.xml" Id="Ra95a9ce79f6548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ed4eaa87c44f35" /><Relationship Type="http://schemas.openxmlformats.org/officeDocument/2006/relationships/notesMaster" Target="/ppt/notesMasters/notesMaster1.xml" Id="Ra57222a2993047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f44a8984ba4e47" /><Relationship Type="http://schemas.openxmlformats.org/officeDocument/2006/relationships/notesMaster" Target="/ppt/notesMasters/notesMaster1.xml" Id="R385773e5d5854a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0a96499b82487a" /><Relationship Type="http://schemas.openxmlformats.org/officeDocument/2006/relationships/notesMaster" Target="/ppt/notesMasters/notesMaster1.xml" Id="R5fe252d394c44b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1943ab16f049db" /><Relationship Type="http://schemas.openxmlformats.org/officeDocument/2006/relationships/notesMaster" Target="/ppt/notesMasters/notesMaster1.xml" Id="R4cef9004d8a34d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f5c20613a549eb" /><Relationship Type="http://schemas.openxmlformats.org/officeDocument/2006/relationships/notesMaster" Target="/ppt/notesMasters/notesMaster1.xml" Id="R2f4f60b2a41047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2d33884a642c0" /><Relationship Type="http://schemas.openxmlformats.org/officeDocument/2006/relationships/notesMaster" Target="/ppt/notesMasters/notesMaster1.xml" Id="R645dddfabc9c4f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a9975c49b74b7f" /><Relationship Type="http://schemas.openxmlformats.org/officeDocument/2006/relationships/notesMaster" Target="/ppt/notesMasters/notesMaster1.xml" Id="R5ae5bd6bb00d44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955955fa104e2a" /><Relationship Type="http://schemas.openxmlformats.org/officeDocument/2006/relationships/notesMaster" Target="/ppt/notesMasters/notesMaster1.xml" Id="Rea797e1afdc140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6f2251184e43dc" /><Relationship Type="http://schemas.openxmlformats.org/officeDocument/2006/relationships/notesMaster" Target="/ppt/notesMasters/notesMaster1.xml" Id="R9160f2aa47aa4e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948a942913476c" /><Relationship Type="http://schemas.openxmlformats.org/officeDocument/2006/relationships/notesMaster" Target="/ppt/notesMasters/notesMaster1.xml" Id="R05d98130ef9f4d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48121ad1a549c8" /><Relationship Type="http://schemas.openxmlformats.org/officeDocument/2006/relationships/notesMaster" Target="/ppt/notesMasters/notesMaster1.xml" Id="Raf6354a9ef204c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f7f46ca94a4f40" /><Relationship Type="http://schemas.openxmlformats.org/officeDocument/2006/relationships/notesMaster" Target="/ppt/notesMasters/notesMaster1.xml" Id="R9ebd20eabc3f4d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8c5c75cf5747dd" /><Relationship Type="http://schemas.openxmlformats.org/officeDocument/2006/relationships/notesMaster" Target="/ppt/notesMasters/notesMaster1.xml" Id="Rbeba2d32baf043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5029e9610b4f31" /><Relationship Type="http://schemas.openxmlformats.org/officeDocument/2006/relationships/notesMaster" Target="/ppt/notesMasters/notesMaster1.xml" Id="R516b363decce4b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32e13acf48469e" /><Relationship Type="http://schemas.openxmlformats.org/officeDocument/2006/relationships/notesMaster" Target="/ppt/notesMasters/notesMaster1.xml" Id="Rb56cd4b92c7345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e8132140ce42e0" /><Relationship Type="http://schemas.openxmlformats.org/officeDocument/2006/relationships/notesMaster" Target="/ppt/notesMasters/notesMaster1.xml" Id="Rb06dc2931013451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37914cd49c4f87" /><Relationship Type="http://schemas.openxmlformats.org/officeDocument/2006/relationships/notesMaster" Target="/ppt/notesMasters/notesMaster1.xml" Id="R5f2ebd160aac45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4-10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5-6 and 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6-10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 and 39-46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48-49</a:t>
            </a:r>
          </a:p>
          <a:p xmlns:a="http://schemas.openxmlformats.org/drawingml/2006/main">
            <a:r>
              <a:t>- C:/Users/LIKKI/Documents/ChatGPT/david/tmp/flywire_future_deck/integration_architecture.puml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23-31 and 39-46</a:t>
            </a:r>
          </a:p>
          <a:p xmlns:a="http://schemas.openxmlformats.org/drawingml/2006/main">
            <a:r>
              <a:t>- C:/Users/LIKKI/Documents/ChatGPT/david/tmp/flywire_future_deck/data_model_commercial.puml</a:t>
            </a:r>
          </a:p>
          <a:p xmlns:a="http://schemas.openxmlformats.org/drawingml/2006/main">
            <a:r>
              <a:t>- C:/Users/LIKKI/Documents/ChatGPT/david/tmp/flywire_future_deck/data_model_execution.puml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 and 41-46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23-31</a:t>
            </a:r>
          </a:p>
          <a:p xmlns:a="http://schemas.openxmlformats.org/drawingml/2006/main">
            <a:r>
              <a:t>- C:/Users/LIKKI/Documents/ChatGPT/david/tmp/flywire_future_deck/data_flow.puml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23, 28-31</a:t>
            </a:r>
          </a:p>
          <a:p xmlns:a="http://schemas.openxmlformats.org/drawingml/2006/main">
            <a:r>
              <a:t>- C:/Users/LIKKI/Documents/ChatGPT/david/tmp/flywire_future_deck/state_model.puml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</a:t>
            </a:r>
          </a:p>
          <a:p xmlns:a="http://schemas.openxmlformats.org/drawingml/2006/main">
            <a:r>
              <a:t>- C:/Users/LIKKI/Documents/ChatGPT/david/tmp/flywire_future_deck/approval_class_diagram.puml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 and 43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23-26, 33 and 43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28-31 and 43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28-31 and 49</a:t>
            </a:r>
          </a:p>
          <a:p xmlns:a="http://schemas.openxmlformats.org/drawingml/2006/main">
            <a:r>
              <a:t>- C:/Users/LIKKI/Documents/ChatGPT/david/tmp/flywire_future_deck/execution_class_diagram.puml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 and 48-49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40 and 46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23-31 and 41-46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21, 26 and 31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0b6f1664846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5235f4775046e8" /><Relationship Type="http://schemas.openxmlformats.org/officeDocument/2006/relationships/slideLayout" Target="/ppt/slideLayouts/slideLayout1.xml" Id="Rd4f10ad94b2445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10ad94b2445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f79882a3046e9" /><Relationship Type="http://schemas.openxmlformats.org/officeDocument/2006/relationships/notesSlide" Target="/ppt/notesSlides/notesSlide1.xml" Id="R7840777582194c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7bea9179241b4" /><Relationship Type="http://schemas.openxmlformats.org/officeDocument/2006/relationships/notesSlide" Target="/ppt/notesSlides/notesSlide2.xml" Id="Refa7a41e341e47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e9a1b5c344ec2" /><Relationship Type="http://schemas.openxmlformats.org/officeDocument/2006/relationships/notesSlide" Target="/ppt/notesSlides/notesSlide3.xml" Id="Reabdda7b183f46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9ce8eb47c4311" /><Relationship Type="http://schemas.openxmlformats.org/officeDocument/2006/relationships/notesSlide" Target="/ppt/notesSlides/notesSlide4.xml" Id="R8a4d4b4e097543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02df9ceb6428d" /><Relationship Type="http://schemas.openxmlformats.org/officeDocument/2006/relationships/image" Target="/ppt/media/image.png" Id="R4282beb9907c4875" /><Relationship Type="http://schemas.openxmlformats.org/officeDocument/2006/relationships/notesSlide" Target="/ppt/notesSlides/notesSlide5.xml" Id="Redeb5e532d6345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8d9e8cb214594" /><Relationship Type="http://schemas.openxmlformats.org/officeDocument/2006/relationships/image" Target="/ppt/media/image2.png" Id="Rdc834f2e99274b5b" /><Relationship Type="http://schemas.openxmlformats.org/officeDocument/2006/relationships/image" Target="/ppt/media/image3.png" Id="Re9f5584000fa43ea" /><Relationship Type="http://schemas.openxmlformats.org/officeDocument/2006/relationships/notesSlide" Target="/ppt/notesSlides/notesSlide6.xml" Id="Rb9ec0909b2e440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5dde5540d4b20" /><Relationship Type="http://schemas.openxmlformats.org/officeDocument/2006/relationships/notesSlide" Target="/ppt/notesSlides/notesSlide7.xml" Id="Rd1346a89314543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dad3888f24a94" /><Relationship Type="http://schemas.openxmlformats.org/officeDocument/2006/relationships/notesSlide" Target="/ppt/notesSlides/notesSlide8.xml" Id="R1e90a45d2c274c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31791b80f4bbe" /><Relationship Type="http://schemas.openxmlformats.org/officeDocument/2006/relationships/notesSlide" Target="/ppt/notesSlides/notesSlide9.xml" Id="R69b4d062789a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f8e11cf034b86" /><Relationship Type="http://schemas.openxmlformats.org/officeDocument/2006/relationships/notesSlide" Target="/ppt/notesSlides/notesSlide10.xml" Id="R1b5bf2bed85443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52f41caa54800" /><Relationship Type="http://schemas.openxmlformats.org/officeDocument/2006/relationships/image" Target="/ppt/media/image4.png" Id="Ra5e424a4cb0a4241" /><Relationship Type="http://schemas.openxmlformats.org/officeDocument/2006/relationships/notesSlide" Target="/ppt/notesSlides/notesSlide11.xml" Id="R800de4a0929c47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d37ca61714494" /><Relationship Type="http://schemas.openxmlformats.org/officeDocument/2006/relationships/notesSlide" Target="/ppt/notesSlides/notesSlide12.xml" Id="Re6c8335be0d743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36f8dc1284072" /><Relationship Type="http://schemas.openxmlformats.org/officeDocument/2006/relationships/notesSlide" Target="/ppt/notesSlides/notesSlide13.xml" Id="R2c0ec7e5b37c42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2befbf0e2403d" /><Relationship Type="http://schemas.openxmlformats.org/officeDocument/2006/relationships/notesSlide" Target="/ppt/notesSlides/notesSlide14.xml" Id="R7c0cbd41b8f447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284ffdcdf4a5b" /><Relationship Type="http://schemas.openxmlformats.org/officeDocument/2006/relationships/notesSlide" Target="/ppt/notesSlides/notesSlide15.xml" Id="R94fef000a8e842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800822ab242a9" /><Relationship Type="http://schemas.openxmlformats.org/officeDocument/2006/relationships/image" Target="/ppt/media/image5.png" Id="Re8b4e831fb1b4368" /><Relationship Type="http://schemas.openxmlformats.org/officeDocument/2006/relationships/notesSlide" Target="/ppt/notesSlides/notesSlide16.xml" Id="R8b9fe14c461740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63d0dc9af4607" /><Relationship Type="http://schemas.openxmlformats.org/officeDocument/2006/relationships/notesSlide" Target="/ppt/notesSlides/notesSlide17.xml" Id="R8186c6fd9fc147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c75ae5d264ed3" /><Relationship Type="http://schemas.openxmlformats.org/officeDocument/2006/relationships/notesSlide" Target="/ppt/notesSlides/notesSlide18.xml" Id="R0298f24c58f04b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e2740b7004e90" /><Relationship Type="http://schemas.openxmlformats.org/officeDocument/2006/relationships/notesSlide" Target="/ppt/notesSlides/notesSlide19.xml" Id="R2cd501eaea4145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8a12ea8b747d9" /><Relationship Type="http://schemas.openxmlformats.org/officeDocument/2006/relationships/notesSlide" Target="/ppt/notesSlides/notesSlide20.xml" Id="R940c8f8fae484a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acd6f28594ed5" /><Relationship Type="http://schemas.openxmlformats.org/officeDocument/2006/relationships/notesSlide" Target="/ppt/notesSlides/notesSlide21.xml" Id="Rb03979fa926548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b28da56fd4dbb" /><Relationship Type="http://schemas.openxmlformats.org/officeDocument/2006/relationships/notesSlide" Target="/ppt/notesSlides/notesSlide22.xml" Id="R4974e688c3f748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05FD0-9536-464A-AD14-BE685F7C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FLYWIRE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D82F7-D6F7-4493-B1B1-A7178EC8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8105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Future-State</a:t>
            </a:r>
          </a:p>
          <a:p xmlns:a="http://schemas.openxmlformats.org/drawingml/2006/main">
            <a:pPr algn="l">
              <a:defRPr sz="4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E5397-DDE5-4F0D-BAF3-C39140B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Clean data model, governed data flow, service design, controls and delivery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DCF03-C1F5-4D1D-BC86-5782CF30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38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D47AB-034D-4BEF-A7E1-5F38F57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4310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</a:t>
            </a:r>
          </a:p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1700C-D5D7-4703-A3C7-CE8E368A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336A4-FCAD-4301-8413-AFDF010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Team discussion deck • August 2026</a:t>
            </a:r>
          </a:p>
        </p:txBody>
      </p:sp>
    </p:spTree>
    <p:extLst>
      <p:ext uri="{BB962C8B-B14F-4D97-AF65-F5344CB8AC3E}">
        <p14:creationId xmlns:p14="http://schemas.microsoft.com/office/powerpoint/2010/main" val="607023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C494B-A1D7-40CC-A69E-6AB4C2F4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76D65-5112-46C2-B2F8-E0AE31E4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single operating model connects customer, quote, contract and revenue data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5E5D9-DD49-465F-AD5E-1AFAA083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0BF55-B30F-4488-B8C9-2A469CBC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implementation is organized around one governed commercial record chain. Every downstream process consumes the same validated data instead of reconstructing meaning in each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ADDBE-EA73-44ED-BF85-E50CD82A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FFAA9-BF75-4BD8-AE39-F649F67F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26903-BAC0-4C82-8DA6-6E23079C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14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EC909-EF55-4D21-A3DA-8F02ACD3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05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BD36B-54FE-49D1-8480-CE01E40D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33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OPPORTUNITY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3ED89-65D9-4C17-9DA1-6FCC73D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14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CF672-9C73-4221-A30C-6E7EA84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3AAA1-7EA9-468C-A759-01C07015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589CE-6C6D-4367-93B6-70009A2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14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9FBA6-AF44-42D6-A627-F2710B7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D40CC-04E8-4C8B-A8B6-A22E555B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0C0B7-3703-499B-B2CC-D44D075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14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19AE5-BD8B-4103-90FC-B5C70F60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AB68C-9ABE-4320-991F-5D63819C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61B7A-5CCA-4E2D-A175-B722486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14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7432E-75C7-45A5-95C4-B3E0221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05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A6625-FA14-4BC1-BDAC-A9BD56FA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33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6027C-B68F-4E42-9681-8886ABE8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67F0B-9398-4467-BB6D-C558A49B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governed customer identity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95711-8D43-4708-B438-EFF05C9D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C3B1B-43D0-40E6-8DC6-704E0372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quote-to-contract lifecycle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9B611-6F6B-4BF8-9AD7-F617B58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EFD2A-4C73-4207-8E7E-50006C4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29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reconciled revenue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B852E-A986-474F-A7C0-9BBF9B99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36176-879D-468A-89CC-AA5141A3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292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silent downstream handoffs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1A487-C737-42A4-BEAD-6A6054D0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56452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47C25-E176-43BB-89CF-48E337B9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0ADE1-25CC-47A0-AB10-3D0D4D92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47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blueprint covers all three transformation initiatives in one design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E6EA-2334-4D48-9C78-A5845288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81CE2-53D6-4C28-B34C-F9771F0D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D476C-7AF7-4261-AE73-6E85041C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UNIFIED FOUNDATION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28575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C723E-1FBF-4F2B-B603-D8E1DF9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333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Golden customer and hierarchy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One product and pricing model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Governed integration events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Single reporting definitions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EA299-DE88-41BC-9716-7B012DF3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16CC0-7936-4DC8-B5C6-0950EAE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TO CASH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248150" y="28575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A193F-7EAC-46C5-9C71-3D6FF91F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3333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Guided configuration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Tier, ramp and term pricing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Risk-based approvals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ARR, MRR and TCV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Proposal and order 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1923D-A6F2-4A92-8863-FF2AA32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FAA39-B051-4A26-B9FB-5B1C530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LIFECYCLE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8096250" y="28575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8BFA7-6D0E-4E46-AD9B-4642F2FB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333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Contract creation and repository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Clause, approval and signature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Account/entity association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Obligation and status reporting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Renewal and amendment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C47E3-032E-4D1F-A1D9-BD6ACD17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controls: identity • security • audit • data quality • release governance • reconciliation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66AAE-889A-49F3-A74D-21E3ED14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63473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53B07-C10C-4477-A35B-8E82C2B6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FA173-FDAD-4A6F-B600-9195D762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Six principles keep the data model, services and process states synchronized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9E31C-3262-4185-95E8-B7540800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40B01-2421-4AF3-A934-E13FBCF7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D90B6-A02E-4541-9107-9692647A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Single source of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7529A-CE5C-4D2B-BC49-EC090BAF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Each business concept has one authoritative owner and one stable key.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32766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01AC4-12A9-428D-8EFB-F3896950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6A925-8400-48D7-A80E-CA40FB90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Configuration over branching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70F2A-1F39-48A3-A079-0BF35D54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Pricing and approval policies live in governed rules, not scattered code.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191000" y="32766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D6392-26EF-4371-87CE-D888DA6F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B3ADB-7118-4C7E-87DE-1415B01F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 drives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088B1-0F06-4715-946D-7660E1FB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Editability, approvals, documents and handoffs depend on explicit lifecycle states.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981950" y="32766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56758-E064-4145-8927-51BB20B0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867E4-D0A6-4A97-B392-97AFA12F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Events carry correlation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505AB-E7ED-4F84-886A-27C154A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Every downstream message can be retried, traced and reconciled.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53530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E425A-124D-4873-9996-2920B08F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29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368C4-C197-4536-804E-E672DA3A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Metrics use one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983CA-9689-45BB-87A6-FD61F5C7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053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ARR, MRR, TCV and one-time revenue share versioned calculation inputs.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191000" y="53530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6F047-929F-4BAE-90F4-4020BF22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631AF2-8E90-4558-8307-67923E6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Controls ship with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11BB0-C2DA-4B39-9193-843D0941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Security, audit, tests and rollback are part of every capability.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7981950" y="53530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0B7F9B-6569-4B46-8185-5174D226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893288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BAD1B-40E7-4A99-8781-BB81C74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721AC-0A80-486F-81FC-FFCD462E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target architecture separates experience, orchestration, integration and enterprise platforms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6B7F9-3FDD-4AB9-9D3B-D43380EF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2beb9907c4875"/>
          <a:stretch xmlns:a="http://schemas.openxmlformats.org/drawingml/2006/main"/>
        </p:blipFill>
        <p:spPr>
          <a:xfrm xmlns:a="http://schemas.openxmlformats.org/drawingml/2006/main">
            <a:off x="1685100" y="1581150"/>
            <a:ext cx="5240400" cy="455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137ED-454F-4831-BC1A-AAB1C50C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THIS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197E7-728A-4418-9555-A9D8BFC1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One CRM experience for sales, deal desk and customer success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Orchestration owns commercial process; integrations do not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Integration layer handles transformation, retry and correlation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Finance acknowledgements flow back into reconciliation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Reporting consumes governed CRM and data-platform definitions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0CD01-1CBA-4174-89BF-354229BE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Design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9FBA7-1E2A-4B40-928B-EF72EA58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340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86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point-to-point integration may silently change the commercial meaning of a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3B296-C8C1-432A-95E2-DFCE76F4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36564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65D71-12AF-4719-BFAA-87833967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F8212-CF22-4F51-8303-7AF327C4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canonical model gives each commercial concept one governed home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9314-ED1A-436E-84C0-D4615A7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D5985-9A7E-4D37-95AD-3E7738C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COMMERCIAL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C459E-5C2B-413C-BE54-A1BC8347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APPROVAL, CONTRACT AND EXECUTION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34f2e99274b5b"/>
          <a:stretch xmlns:a="http://schemas.openxmlformats.org/drawingml/2006/main"/>
        </p:blipFill>
        <p:spPr>
          <a:xfrm xmlns:a="http://schemas.openxmlformats.org/drawingml/2006/main">
            <a:off x="1408128" y="1943100"/>
            <a:ext cx="3413095" cy="41148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5584000fa43ea"/>
          <a:stretch xmlns:a="http://schemas.openxmlformats.org/drawingml/2006/main"/>
        </p:blipFill>
        <p:spPr>
          <a:xfrm xmlns:a="http://schemas.openxmlformats.org/drawingml/2006/main">
            <a:off x="6248400" y="2525728"/>
            <a:ext cx="5429250" cy="294954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79C8E-AD51-46F3-9183-9121CB80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PlantUML source is included in the implementation working set</a:t>
            </a:r>
          </a:p>
        </p:txBody>
      </p:sp>
    </p:spTree>
    <p:extLst>
      <p:ext uri="{BB962C8B-B14F-4D97-AF65-F5344CB8AC3E}">
        <p14:creationId xmlns:p14="http://schemas.microsoft.com/office/powerpoint/2010/main" val="844646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1A0FD4-7321-4C35-A1DE-CBB1CE66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68F2B-C8A3-4F53-AD78-B50BF06E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7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Ownership rules prevent duplicate truth and uncontrolled updates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E6EFF-C086-4FBF-85EF-24EA56D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D4BD3-3763-44CC-A097-791DA9B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318D3-1DC1-45CA-9F17-9395C60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33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AUTHORITATIVE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2362B-9BD3-4C30-84F9-555E7ECC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335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04550-BDD9-415C-8CA9-87EE662D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407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KEY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0D51E-6F4A-4CEC-9D1C-DC30F07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047BC-EA15-4B01-B578-8F5B08D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28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A52C9-449D-444B-BEF2-332ACB42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2885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CustomerAccount + LegalEntity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373BA-1865-48CD-A6A3-0A11DBBA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288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CRM data steward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644B5-C138-4DCD-833A-914BFF4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Golden key, hierarchy and match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40AEE-0766-45F3-ABB3-BF2A7A0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9C24A-9335-4A67-9FE5-5A9DA2D2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670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1A353-4C82-4378-9A44-A49E67F6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67025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+ PriceBookEntry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EA11D-38D1-4CDF-923A-B3941E2A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670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E9E38-7726-4CB9-A8F3-3C6BDB45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67025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SKU uniqueness, eligibility and effective 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AD7D3-4F5C-41F4-A87F-BEEF7C1E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A1C28-D857-4BE6-B5F7-1A62A17B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05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0F6C0-54D9-41EE-A317-35B20F24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0520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+ QuoteLine + PricingSchedule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B9CF9-6F84-4846-97DD-DCD643A1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0520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 / deal desk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33C97-E222-4F3D-9881-ACDD7DC3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0520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Version, state, approval and edit locks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4B04E-79CB-4B63-A07A-E0235A8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0AD9D-6333-4BD1-AA38-BB153AB5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33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CA879-37EC-4008-B03D-A06732FF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43375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+ ContractLine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64A7B-F25A-4489-9B47-A4826033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14337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91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/ commercial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3A9F9F-ACB6-4E16-9928-CBA53BDD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43375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Accepted terms, entity and obligation integrity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06055-B9C8-4DED-805C-D8CD467C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1A034-9CB9-4E77-B70E-50AA0B1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C6E0D3-89A6-4794-AEE6-40C26878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8155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 + IntegrationEvent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4EFE4-C28A-4383-8259-AEAEE7A1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7815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0FD84-4094-4D36-A217-22F8C7BE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8155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Correlation, acknowledgement and retry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D3A66-0916-42A2-9B85-5275572F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DA8CFE-C1C2-4F3D-8023-4BE4139F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97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574FF8-5F6E-425E-B70E-A53EDC9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9725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RevenueMetrics + financial actuals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8EF26B-26EA-411A-BFAB-A349769B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419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511DF8-FB63-4BAB-AB27-E88355B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19725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Versioned formula and variance reconciliation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0CC3B1-0279-4E3F-9BA6-FA85F7F3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integration reads from an authoritative record and writes only through an owned service or approved reconciliation path.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48589A-BAFF-4CF7-AEA9-BE11AAFA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18558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1A0E9A-20ED-4D32-99B3-7A62EF9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17382-D601-478F-9F37-C758AB38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14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moves forward only after validation and controlled decisions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16356-00D1-4242-8098-6633987D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893FA-1437-409C-BEBC-E8A0DD7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EF5F0-8D6A-4B91-A614-9271C785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2AAD1-3095-488B-A3AE-A24224CA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Match customer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E6EE0-C980-4BF9-BD5F-FB1BDCC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E126F-5DED-4CBF-BB7C-91D2A9C7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D73D5-EA38-40F6-8FDC-612F139D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25446-1532-436B-9177-516AB74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67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Select product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DD866-9C7F-4271-BB42-18806629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D2B34-803D-40EC-992A-D7EFB08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6058A-7CAE-4754-830C-94AD8489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5E1E4-AC5E-4920-954B-D6BEAD70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Schedule value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6ED48-B371-421C-8595-835A1A10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76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EAAE5-8892-4F59-A0B1-4C263188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54A4E-B6E3-44C2-9743-0D4E0338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4FD29-AFE8-4BA4-86A1-4A84826D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Validate and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F8FE6-3B0D-4778-BA40-539D030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6EA3A-FE64-46B3-AF89-1F11EF2D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8739E-63E8-4D58-90CE-D1AA4890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400EC-20CC-43B9-A350-966CFA1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Generate, sign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B8118-7534-4A4C-9410-9EA4B77A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AEEEC-7FBE-48F1-AF32-57854C6C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A40AC-8F4B-4F19-8CAF-F24C2AB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95AFC-2EB6-4C0C-995C-15CCAF54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Order, bill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836A4-9453-4D61-A0C7-1FEC98F6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 GATES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860B2-5060-4EBE-9180-58A3349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DD1E5-E149-4763-A9D2-31E15C4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01FB6-C006-4068-904C-46BA740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Golden account, hierarchy and legal entity are resolved.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5AF19-EFC6-4059-8866-AE04ECB1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CBFF8-993A-4612-9FB7-0361CFE0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D58DB9-7786-4EED-9326-A83D0DC5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81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Product, pricing, term, risk and completeness pass.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75E807-2718-4A3B-A3E7-4C058981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34E993-C0B0-422D-B450-586142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EDCEBF-E7F3-4B21-AFF7-063C7ED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81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Required personas decide; material values remain locked.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851C93-FDFE-4EA6-B75B-0B036734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424591-B76D-483F-A9D7-DEE41828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CA9DEA-7658-4CF8-8E44-D89A3B74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Proposal and contract reference the approved quote version.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E76369-A75E-4A09-AF97-EAA2BDF3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72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74505C-0AB9-45B7-9834-88B3CABD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72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Reconciliation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F7E979-F225-41F4-84A6-ECD59278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57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Downstream acknowledgement and financial variance are recorded.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96FA05-DBC2-4972-99BF-112771EE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54452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0BBBF0-9A5F-4C97-A870-3A090325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BE29E-DD1D-4332-AD78-71075A5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quote state model governs edits, approvals, documents and downstream handoffs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10988-8A3D-46B3-B6A2-D62CC1F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B37E2-1F0D-42D1-B9BC-7726F51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9CA46-BD13-4F9B-A843-CD813CB1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FA326-58A1-4019-B7A1-7729FAD8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62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BF84E-C6CE-4626-AAD4-916D8717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C3732-D9AC-41BC-91F2-97F0EAD7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00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5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D5F8E-86BD-4AF9-A1B6-E954E4F3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62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3CBA9-B7A7-4029-935C-AC606F4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4A498-7311-428A-8F4A-6737D98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4EFCB-A284-44CB-A0AC-C0585641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7A2B1-BA9B-4598-A79E-363FB792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F652F-3325-424E-A86D-9DFC344D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00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8A12-8520-4F68-85B7-3E763C93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62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1C264-8914-4945-B24B-7F5A4B8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E7ECD-7F5A-4228-A518-7245441C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5B437-062E-4FD5-8956-9F26F02D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30AE7-3FD9-4E45-B41B-23F1D8B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90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C33C1-52BF-4C03-9635-3EA085A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00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11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9A2ED5-5B22-40E8-9219-406128D3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62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D8588-4102-45C4-9000-FE67B8BA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69582-2015-4DED-8AF3-AD5AEBC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4D4B8-2776-41DC-AB28-E5EA7DCC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62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2EB4A-A44F-4B68-B8AB-C3AF0813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190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E52FE-432B-4E13-8E29-5762C08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00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ACTIVATED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3429000" y="3067050"/>
            <a:ext cx="95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2BCB81-FC62-4839-8E20-FDC6248B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433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7334A1-384E-4215-A2CA-036F802D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3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596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PENDING APPROVAL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450F5-A4AF-452A-B66B-A545564B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Required after validation when policy thresholds are triggered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9620250" y="3067050"/>
            <a:ext cx="95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EFB75F-BFE1-4638-9018-04F3F63B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A18BE0-4D3B-480B-BCBA-3FC5EFE0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338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AMENDMENT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A701E-3C61-47AE-94CC-4CD6611A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814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Material change returns to validation and approval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3C9821-DD3E-4BA1-936F-191827B2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GUARANTEES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3E43E-6E3C-4422-8444-250BA132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Draft permits editing • Pending Approval locks commercial values • Proposal references an immutable approved version • Contracted and Ordered require acknowledged handoffs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ED6F1D-816E-423A-897A-7CE19700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000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Status is behavior—not a label.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2DDD0D-C994-4B13-945D-4A1F5660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87670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D534E-2375-40F9-87D0-3FE58F00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D8BE9-0367-4EF0-9A9E-7A24CA91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rules are configuration, not hard-coded branching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FFEFB-B9DF-462A-A36A-40FACFEF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61C9D-6930-4328-BCCA-47F906A6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RULE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50510-0577-4AB2-9B8A-AA903AF3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33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7ED08-114C-47AF-A8BD-7DFBC0DE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857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Rule key and effective dates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Active flag and priority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Discount / ARR / term thresholds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Product, entity and currency scope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Risk and exception categories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Required persona and sequence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Parallel-group identifier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Human-readable reason template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FD6D-41D7-4008-8989-FCDA1C96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290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B96AF-23CE-4C9D-A8C5-378FAAFA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79817-0843-44D4-BF87-8609E895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857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55878-5D7D-4D94-A792-B922782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9C645-19FF-43DF-BAF4-9FCA71D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39723-5043-4E8C-BD4F-0B9F568E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Active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DE50D-50D0-4A76-BE85-B1CC042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76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E71B7-7DCC-40F5-A54C-DA415884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Approval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16FA5-447E-4EA1-BDA7-433BB636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910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ordered steps • parallel groups • reasons • missing approvers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2D3D8-2A14-4582-8D2C-15F7D239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8B3CF-C621-439F-918B-ABA21E01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1F7D7-2473-49B9-BC8B-144D59D2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857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227C5-C4B4-4255-9661-29585CBE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24003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Create approval request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Resolve approvers by persona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Lock commercial values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each decision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Notify only required participants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Recall or reject with reason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Unlock through controlled transition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audit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2606A-E145-405D-A1BC-9FDCCEF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0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1 can run in evaluation-only mode before submission is enabled.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EA605-1900-4B62-91FD-5629DB03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98645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3079E-DA05-4627-AED6-B3570FF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3448E-74B3-4708-8018-6325111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59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services isolate policy decisions from lifecycle execution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E6DF8-E4FE-44EF-ADC5-E8BE72CD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424a4cb0a4241"/>
          <a:stretch xmlns:a="http://schemas.openxmlformats.org/drawingml/2006/main"/>
        </p:blipFill>
        <p:spPr>
          <a:xfrm xmlns:a="http://schemas.openxmlformats.org/drawingml/2006/main">
            <a:off x="400050" y="2173288"/>
            <a:ext cx="11391900" cy="2187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B0DCA-275F-41F7-897A-D60BE6E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F867A-EF5A-4E32-B0D9-37F293D9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one immutable view of quote, line, customer and risk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67CB7-0B33-4933-9EF6-9162E69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86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C4E09-595A-4278-987E-52A1B072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48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Evaluate active rules and produce an explainable approval plan.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A0301-F36E-4E4A-BDF7-14355973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Lifecycle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E16AE-CC8D-403F-8B60-2C8B76C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48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Create requests, lock values, record decisions and preserve audit.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12A8D-63D0-4B1E-BE95-2DF50351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400505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98B263-0E54-4BE6-929F-AA3676CB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552FB-F0A1-4D55-8C1A-67D6337B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schedules and revenue metrics share one versioned calculation model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77533-3C05-4D5C-B58D-E61307CD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E98E5-C5C0-4AB1-9BA7-CD54B8BC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5A803-2D4C-4C24-B062-88D2C300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7554E-D4E6-47CC-8319-D00C3DF3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Product, bundle, eligibility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4C81D-3FB8-436E-A9FE-69C2E3E6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76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39749-378F-4866-B4CE-9812C03D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41697-7DEB-4B55-A3D8-BA41AF2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PRICE 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D663F-16B9-4837-8B73-97B79E0A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9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Currency, list price, 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4E504-99BB-416B-81AE-AC82DD75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023CE-E206-4FF9-826C-68A5631C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3420F-F3ED-4E5E-B60C-BE7D153F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F8C8A-8C9C-405A-A665-2A768E66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Tier, ramp, term, exception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CF9DA-6443-4F25-83A5-A4187557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76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3033C-34F3-4B7F-A941-BDE7E12B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48459-DA7C-47A4-809D-949C485F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D9173-08C4-477C-BF2E-D2466DB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Quantity and net 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6A0DC-DA2B-4EDA-8110-3B07F24B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C2B64-0E66-4F71-AD14-2F432DA5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8DFC0-176D-4AB3-9654-BAEC16F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DC730-5DBE-477C-9F8E-2177EAF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Period-level amount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3C618-0C85-4ECE-B993-C636D5C2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16DDE-C2D2-4ADD-9A48-1B4D212C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1187A-08EA-4981-9993-956B453B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55674-0E2F-45EA-94C0-CAC90806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ARR, MRR, TCV, one-time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1E3C3-3064-4F54-A942-1BBB6B59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2EF60-3A70-4E24-BB89-B4003A32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CALCULATION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32083-34AC-4D8E-BE23-25D04F7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Inputs are captured with quote-version and rule-version identifiers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Schedules preserve escalation and ramp-period detail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One-time lines never distort recurring metrics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Currency conversion uses an explicit rate date and source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07551-FC69-4F90-A0A1-6D00A69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54864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B1D92-0875-4C94-B1C9-D497200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OUTPUT AND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09A346-5258-476E-A679-2B7A702E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ARR = normalized recurring value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MRR = recurring value ÷ service months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TCV = sum of all scheduled contract value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Variance = contracted metric − financial actual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93B822-B737-441D-96E5-C1CD0A1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278743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E7208-5ED1-4858-9DC7-6F33041E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F8623-85B1-49E3-940C-B01AFCE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governance separates catalogue, price, packaging and eligibility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C0791-9766-4F16-A9E0-BB8DC4BF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69C7B-61D3-411F-9BD5-1A1C3697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72859-33EC-46B7-8686-23A50AF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SELLABLE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CB88F-751B-44FB-B9C5-6A721680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478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Guided selection • compatible options • customer-friendly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6A3E9-0950-43DB-85DB-08E408BC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931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622D3-49B1-475B-9044-ADBC0CF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PACKAGING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22B78-3745-40FC-B834-EF05A026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594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Bundles • required/optional components • product relationships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F897D-3369-45B6-A783-1EBA8BE5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882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FD6AF-3A24-49C4-A24E-9E75292D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24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C7414-A3AD-4363-ADE4-CB2B9F3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242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Price books • currency • effective dates • tier/ramp/term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9A37E-FC18-4C5C-B8C3-85FFA96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832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14792-C6A3-4499-B45B-73926E08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86A7-404F-4263-98F0-485B28D7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624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SKU • product family • lifecycle • billing and revenue classification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8C9F6-AA3F-4590-AB90-685EED8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67300"/>
            <a:ext cx="7829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FFC0D-2320-4D71-A2FB-0A9C3DAF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00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E75CD-D5DA-4786-954E-61D2E3A9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006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Owner • approval • data quality • release and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45BA0-4BC7-40AF-BCD7-20EB075F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products enter through a governed lifecycle—not through direct production edits.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3C52D-AB5A-422C-94DC-1469FB4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71785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E31DB-E517-4A65-9EA2-250E274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632D4-3B80-40D3-ABA1-4E6C2153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Proposal generation consumes the same approved quote model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B56C8-436F-469D-8C28-061FF28C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D8F1F-88CA-4F7B-A7B8-62AADAE3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5179-A926-4C43-9FC2-F0CF600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APPROVED QUOTE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7F0D9-25AF-4948-8F35-4455A3DD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Immutable version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Approved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4548A-D4E3-4DE6-B5C9-4747F3E2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71800"/>
            <a:ext cx="4572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B798A-C3CB-4740-AC22-284C58E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86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4952D-A807-4340-BF34-0DA849E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95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709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NORMALIZED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DD499-DB7A-4FD4-A030-F6400BC7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Customer + groups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Lines + schedules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F4591-2C62-441F-A1B1-E80887F2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4572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C74C4-5FD0-4AFB-A6D5-EB9A02F3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F4F71-AAE2-4D01-B434-6E6191C3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95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8B9BA-B957-4F10-8DCB-BD9ECE3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Conditional sections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Reusable fragments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63A69-AFBB-487F-9CB0-F80B630B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4572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561EF-71B9-4389-9D77-6F569868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86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7EBF6-701A-4D13-BED3-041BD54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95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941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RENDERED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723A9-F54A-484B-9799-CD7200F2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Client-facing terms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Clear price schedules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D3602-9FA5-411D-856A-511F848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4572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FBF5F-494C-4251-AF90-7ABA955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F43EA-A489-4D38-881B-2C71B513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95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SIGNED ARTIFACT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A31DE-FE55-4B01-A583-288FDDE1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67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Envelope status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Content 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D16DC-1FB2-4D64-BF23-89ED132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139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5BB4F-C7DB-4786-A20A-CF94FDC8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Document controls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6DFEA-7C27-47EE-8F83-EAD20AF2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9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Template version • input schema version • quote version • generation timestamp • content hash • signature envelope • retention 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1DCE2-E647-4A46-B26F-D1960469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389439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9780B6-4912-4DF7-8441-EDDCB6FE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90D44-60FE-4035-9E7C-291346C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lifecycle begins with accepted structured data—not a document upload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99078-2816-4E6A-B8CA-7932504C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B8C02-1EC7-40FE-8E1A-1DB12F91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E0A57-5B3B-4B16-9393-02B3EB5E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72C83-F83E-43C9-97EA-C862069F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Capture signature and accepted quote version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2266950" y="2209800"/>
            <a:ext cx="30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63508-19A3-4569-B44B-1FFF4F1B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D2C82-9BE0-4F77-86B0-C82CAEC4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5C33E-D719-4834-BEE3-F96E4B8B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86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Create contract and line records with legal entity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533900" y="2209800"/>
            <a:ext cx="30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73E7F-D440-45A5-AE63-1498EB19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1CFE5-66EF-4409-807B-A483C27E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BF2A3-BAC7-4A32-9E35-17571224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Verify dates, currency, products and obligations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6800850" y="2209800"/>
            <a:ext cx="30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E45D2-AF0C-484A-A042-AB38ED0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0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4F8D5-B8C5-48AA-A52D-2D4BA9A5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B5228-E02B-405A-A934-07F6EFD3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86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Publish order and billing events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9067800" y="2209800"/>
            <a:ext cx="30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8B92A-03C0-4571-8DC5-167C3FCC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9AB2A-D81C-4999-9A11-A850895D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8A918-F095-4EAF-BF84-B79D336D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86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Track obligations, actuals, renewal and amendments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48B12-589A-4051-9E7C-2F8FC89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1391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FADFB-40A7-49BD-AC18-C022C12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Minimum contract data quality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58424-05B4-42CA-BF38-E656BDF4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09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and entity match • accepted terms • contract dates • currency • products • recurring value • obligations • source quote version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569F4-820A-4700-9B74-D8160625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1654123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32C60-FB39-4DC4-A31A-EB93168A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8A5DC-776B-4142-A96B-FC68E298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57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Execution services preserve traceability through contract activation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88DCB-4AEE-472D-B2FE-B81AB431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4e831fb1b4368"/>
          <a:stretch xmlns:a="http://schemas.openxmlformats.org/drawingml/2006/main"/>
        </p:blipFill>
        <p:spPr>
          <a:xfrm xmlns:a="http://schemas.openxmlformats.org/drawingml/2006/main">
            <a:off x="2588404" y="1600200"/>
            <a:ext cx="7015192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76690-ABEE-43A9-BAE8-DE40249B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80CAB-3218-46C6-93AA-02F61014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Proposal and signature are tied to one quote 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80530-BCBD-4747-94A2-5B1F696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05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D58D2-CE53-4108-A183-1910E947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Contract and integration events carry stable correlation identifiers.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8203F-00F6-4C94-BF4F-059BFBA9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05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7A433-8489-49C0-A06A-770B8AD5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67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Financial actuals are matched back to contracted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135A1-C079-47CF-A782-FBE80AF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87434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627C91-FCB0-4D1D-B080-E31BDAD6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CE49A-C037-481C-9830-6EE4CC5F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events are idempotent, observable and reconcilable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3D52C-A6D4-4889-8899-2AED972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8E4BF-7922-4CAB-97A9-763CEAD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DF5EC-6D44-4F98-9BF6-6D8B80A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CRM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85019-6D21-4F83-A91A-4F7F208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62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771B-2481-4A53-8AAA-01458AF7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38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C4AC7-8540-45AB-98FF-5DAFB3B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OUTBOX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EE77C-34A0-48B6-8042-96C862B6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62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E265D-0A5E-4D77-80D9-50C12ED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34F8A-39DE-4E4E-A0E9-96950F05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1D32B-A013-4558-80A5-F24E9161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8E776-2140-4258-9210-DD574155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A20CE-FAEB-44F7-85EA-1D4BD47F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13B58-392F-4ECB-BF01-D2EB3F9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487F1-5F1C-4441-8FF8-2D5A57D8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E5470-B99B-4F11-BAC1-8F2E3222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7AC75-33B1-4BEE-BCE4-DEC6F928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F1EE7-8EF0-4561-9F82-52A2D8B0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EB6BC-0573-4473-8202-1F04300B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62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6BB8C-9F15-4FF7-8641-8825DCB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1D918-B090-4B19-9E84-E00C0FE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Correlation ID, source record ID and event version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4381500"/>
            <a:ext cx="533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25354-ADA0-4B31-8554-948C45D1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B6B44-FAE3-4AC6-AAF8-AF84D32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957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Idempotency key, retry count and terminal status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6096000" y="4381500"/>
            <a:ext cx="533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ADCAE-EBB5-4922-B3BA-0A874F1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152A4-040D-4519-AD28-697EEE6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196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Schema version, required fields and validation result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5505450"/>
            <a:ext cx="533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DAC736-993D-4EBC-A05B-4A9B3A7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9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CD2506-0348-48E6-ADDD-CA0C5F29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Payload hash, timestamp, actor and response reference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6096000" y="5505450"/>
            <a:ext cx="533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24CA7B-1AF9-4B2D-9E78-A353662E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969530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35BCC-006F-4A9E-90EC-F6189C92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B3624-AB07-463F-A516-5BEFE91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and governance are built into every state transition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CE117-57D4-485F-9D7D-E9FADA33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5E252-5B07-43B9-A677-381821A0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156F7-8F39-4C97-8D8C-056BCA0B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CFF32-8089-4E9A-84FE-520353B5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Persona-based permissions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Least privilege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Segregation of duties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AB2AC-2928-4BEF-8AD5-F8BA8A7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C6FA3-1D9A-49F0-8489-3D80A49D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C4F06-5748-4E6C-AB26-D347585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Field classification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Encryption and retention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Golden-record stewardship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00203-369C-4352-8BED-49C7ACF7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66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D84D0-17C5-4D12-B1C0-AE6A2637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E66C8-2E83-48B8-91EA-A800AAA8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52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State-based edit locks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Approval authority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Controlled amendments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C1F70-705B-4899-B5AA-FFEC2961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66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B55EE-5E2D-4789-8BF3-D76BAC92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3BD26-1D4A-4A41-81F2-27D9678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Named authentication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Schema validation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Replay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53867-9C18-4F1C-8705-B477F312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66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7763A-B188-432A-8E66-348DAFDC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209A8-BCA2-4717-AA6D-B071B527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Decision reasons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Payload hashes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Correlation and lineage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2232C-A2F5-4E5B-8D17-CFA3851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E84EF-7498-4C3A-BC05-FB6BB08D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Release 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E8913-E7BE-4F85-ABEA-E628E50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05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source repository • isolated capability packages • automated tests • check-only validation • business UAT • controlled activation • rollback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8ABF7-76E0-4D07-B74E-71658F27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508138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B44B64-37C9-4CFB-9C69-33470DF9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69107-264B-4F98-807B-FBB63EB2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Salesforce implementation components align directly to business capabilities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B3F54-265A-4443-A83E-C7298A3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D8A25-37AD-4255-8F37-CF48974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41832-B583-450F-86AD-C54A438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76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15657-F2EC-4A74-AF05-2FB315F9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SERVICE /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950D4-0AA7-4825-AC90-13C20BA5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942EC-4308-4C9F-86FE-83A717B7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9C69C-A2E3-423D-9779-29D84E2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53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89891-48C5-4391-94BA-3194C058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717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Match rules, hierarchy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B4C1D-D982-42AF-89ED-CF8ED571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717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identity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297EE-B58C-4150-BCA1-7DC5BF45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Duplicate and hierarchy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E23A8-F822-4B1E-B38B-8B12CE50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DEAF6-608A-448A-9801-F7451D7A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&amp; pricing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35FB6-8A32-4C14-85E4-25352745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Catalogue, price books, pricing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8A69E-E413-4F3E-9543-944B8A53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and schedule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76BF1-AE74-4B3F-9E93-C6254ADA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Rule-version calculation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9D85E-3D62-4257-A586-E44A63FE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52559-9871-496A-ABCF-59A9D180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0205A-3C86-4EDE-8065-B5797C1E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671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rule metadata, personas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FA281-F3AB-4624-9C61-96FF1EA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671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Decision, lifecycle and lock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2AD46-6751-459D-AB4E-B8CFE4E0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request, steps and reasons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46D3F-2E49-4F94-9B33-B55E9C9B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D69D4-C439-41A0-92D6-B3B14466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E8116-313F-4F08-B2F0-EA03B93C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148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Template and schema versions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9671A-ED18-4101-8F9F-7D61040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148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 generation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681A1-88E1-4548-A79C-1687E30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 reference and content hash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BC839-42B6-4AB9-B3AD-9451A14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C6847-D6CF-4DC9-94B4-496C6447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76B98-9466-4335-B66A-692BBD9C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625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types, obligations, clauses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D8828B-01B0-47CC-8509-7E06E04A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625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handoff service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1E0EB-1367-4484-B4AC-F438D1D6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Quote-to-contract lineage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28B211-08B3-46C7-968E-5A577C90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AE8172-7F44-4992-A3D0-32DDA58E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0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2BEB19-A935-4806-95C5-F61B9649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102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Endpoint and event configuration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B50BEB-11EB-4844-8D7A-F942363C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102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Publisher, retry and reconciliation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EB3D9D-C116-48A6-A0D0-31C0060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 receipt and variance result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3EA340-0B5B-4843-8D10-66CB5BD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9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Naming standard: capability + responsibility. Legacy organization-specific names are not carried forward.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B79C23-9360-4F69-9D5D-D87398B0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367333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74ED9-19B1-442B-B686-33AC5D3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DC3D2-912D-4CB3-B198-1381F40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1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 moves from evidence to pilot to scalable operating model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4FC65-EB90-479C-BD90-213839A9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742950" y="3314700"/>
            <a:ext cx="10382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466F1-A7BE-4E96-B264-A69152DF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14442-515C-4B6A-B8A1-09C486AC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0–6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C9F8A-687B-469F-8CA2-29BFAC72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B165F-FE89-4B3E-9BF4-5F4B782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209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Confirm process, data definitions, ownership, rules, vendor boundaries and acceptance criteria.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2E9E1-74BA-48F2-BD0C-3B3E2660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19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12634-9E96-4F9D-855E-30953CEB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7–16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36574-1231-47F2-84E6-31C9567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8EBE8-A4B0-4EE5-B190-5A2BBFD7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209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evaluation-only approval, metric engine, controlled proposal and one integration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B4803-EB5B-4FD5-9675-B4F5345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67F61-E000-4126-B35E-F6A80109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4–8 MONTHS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4A3DD-14FA-4E4E-BE76-1280E124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0D40F-EF52-455D-ABE0-1BED20A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209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Enable approval lifecycle, contract handoff, reconciliation and broader product/entity coverage.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486CF-072A-4104-8454-00414751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9A60B-0C70-4E27-8DFC-FFB87AB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8–12 MONTHS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2CA3B-5C9F-4F86-B33A-32715F43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CONSOLIDATE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F8781-6FAE-4D1A-90B8-55E499D3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2209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Migrate remaining users/data, rationalize integrations and establish one release model.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21F60-D607-48DC-8B29-757651E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60CB7-DBBF-4F3A-A454-014CBAD1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success gate: explainable approvals + stable metrics + approved document + acknowledged downstream handoff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69DB8-9747-4037-96E3-167B93E4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5818405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50254-A0AB-4868-A65A-4556EB4E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BB779-9752-4A9B-89ED-3EA8C32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Quality gates prove data, logic and integration integrity before activation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73CE6-D896-4314-8B40-259A0C81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42245-C129-4D9A-986C-DBB95888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0A251-AAEA-4B73-8729-9BFCD0C6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867E7-CA93-4624-99A3-C8DE39BF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Required entities, keys, ownership and lifecycle states are approved.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280035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9AD69-DF89-4720-BCA1-86BEC0A1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14863-7D5F-40E4-8739-CF2126A3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B00FF-2D0D-4590-B194-DB357127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Boundary values, overlaps, missing approvers and effective dates are tested.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096000" y="280035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62066-6956-4DC5-8AE7-97FADBA6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B9536-E320-467F-AE1C-2A68E379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4CCCE-E120-465C-8677-4FA0E5E2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ARR, MRR, TCV and one-time revenue reconcile across test scenarios.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419100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DF239-F9E9-4AF1-BCA9-4DD3FA3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C2E9E-7A7D-4565-A837-EF443504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86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4D3CB-AA5B-4E47-B018-80C890B2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Personas can perform only authorized actions in each state.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6096000" y="419100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E43FF-364B-4B7D-93E8-F005FC9C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EEBA4-D11A-4F57-9B4A-B9CAA22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82F62-E100-4429-B10F-73B971B9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Retry, duplicate delivery, schema failure and acknowledgement paths are proven.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558165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58B0D-CCCB-427D-B6D6-CAB9013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6BE32-770D-45D0-A9BC-CDD4BC32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UAT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6111C-ACF3-402D-99EF-E992F545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76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Sales, deal desk, legal, finance and operations accept end-to-end outcomes.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6096000" y="558165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9A28E-3388-45DE-9702-F73C399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438630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58B9B-F05E-4949-8A5B-A31E8B29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E6F16-37F4-42CF-8211-E94D86D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first 30 days convert this blueprint into an approved implementation backlog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EA0FB-F8BD-4F4E-9B0F-49AE19DD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FAE54-3365-4145-9817-9DCD9A86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D19A9-1ECC-4280-9C8D-ED49317F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 ownership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E1C2D-3319-43C6-8D9F-C9F84E58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Name accountable owners for customer, product, quote, contract, integration and metrics.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1FD2C-39A9-49CB-95C0-CBA43C8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EF811-9C94-47A9-9EF0-FC77A22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the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A2692-7D22-4C56-97DB-F8D1B5F1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05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Map existing fields and records to the canonical model; identify duplicates and gaps.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9BDB7-4815-40AB-8432-3D9422DF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CAAB5-23AA-4EF4-9116-15FE350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Define pilot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A2D66-69DA-488D-A9DE-0DA6283F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Select approval, pricing, metric and document scenarios for the first controlled pilot.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BEE60-CCC2-4D1F-B7C0-7792261F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811AA-77F6-4455-965B-2F7376A1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16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 the backlog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090F7-8F01-4B3A-BB6C-AA0D24E4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Agree components, acceptance criteria, test data, release gates and decision log.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FBA86-3CEA-49BC-82B1-8DE50E4D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89C6D-FB9C-4C9B-B040-7073BB2D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Decisions required from the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88B5B-60E4-4FAC-877E-034CBECB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segment • source-of-truth owners • approval personas • metric definitions • contract boundary • integration priority • success measures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1E466-2BBF-4F9F-AA7B-68B47853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7725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2026-08-21T22:09:27.3370000Z</dcterms:created>
  <dcterms:modified xsi:type="dcterms:W3CDTF">2026-08-21T22:09:27.3370000Z</dcterms:modified>
</coreProperties>
</file>
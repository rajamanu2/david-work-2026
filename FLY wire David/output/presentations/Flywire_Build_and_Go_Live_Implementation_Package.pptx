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748a8c78f45b1" /><Relationship Type="http://schemas.openxmlformats.org/officeDocument/2006/relationships/extended-properties" Target="/docProps/app.xml" Id="R5e0fcd803daa4789" /><Relationship Type="http://schemas.openxmlformats.org/officeDocument/2006/relationships/officeDocument" Target="/ppt/presentation.xml" Id="R75145fdcaa8d41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0d77d38a44269"/>
  </p:sldMasterIdLst>
  <p:notesMasterIdLst>
    <p:notesMasterId xmlns:r="http://schemas.openxmlformats.org/officeDocument/2006/relationships" r:id="R2896d5af817b42a3"/>
  </p:notesMasterIdLst>
  <p:sldIdLst>
    <p:sldId xmlns:r="http://schemas.openxmlformats.org/officeDocument/2006/relationships" id="256" r:id="R3a321b3e0e444b30"/>
    <p:sldId xmlns:r="http://schemas.openxmlformats.org/officeDocument/2006/relationships" id="257" r:id="R07fc62a355a748e0"/>
    <p:sldId xmlns:r="http://schemas.openxmlformats.org/officeDocument/2006/relationships" id="258" r:id="Rf5ff4079ae4348bc"/>
    <p:sldId xmlns:r="http://schemas.openxmlformats.org/officeDocument/2006/relationships" id="259" r:id="Rbd3ed16d2ab04245"/>
    <p:sldId xmlns:r="http://schemas.openxmlformats.org/officeDocument/2006/relationships" id="260" r:id="R1b589ca0fcb04b14"/>
    <p:sldId xmlns:r="http://schemas.openxmlformats.org/officeDocument/2006/relationships" id="261" r:id="R268650b1be4a4009"/>
    <p:sldId xmlns:r="http://schemas.openxmlformats.org/officeDocument/2006/relationships" id="262" r:id="Re32bb2c7426b49c0"/>
    <p:sldId xmlns:r="http://schemas.openxmlformats.org/officeDocument/2006/relationships" id="263" r:id="Rec2ac0f48c034d2f"/>
    <p:sldId xmlns:r="http://schemas.openxmlformats.org/officeDocument/2006/relationships" id="264" r:id="R860647ba020340b8"/>
    <p:sldId xmlns:r="http://schemas.openxmlformats.org/officeDocument/2006/relationships" id="265" r:id="R1daa1f816e0648e9"/>
    <p:sldId xmlns:r="http://schemas.openxmlformats.org/officeDocument/2006/relationships" id="266" r:id="R4185d9b34c154ed4"/>
    <p:sldId xmlns:r="http://schemas.openxmlformats.org/officeDocument/2006/relationships" id="267" r:id="R4121dbd840ba49fa"/>
    <p:sldId xmlns:r="http://schemas.openxmlformats.org/officeDocument/2006/relationships" id="268" r:id="R714623f66afe4167"/>
    <p:sldId xmlns:r="http://schemas.openxmlformats.org/officeDocument/2006/relationships" id="269" r:id="Re9c48697da294203"/>
    <p:sldId xmlns:r="http://schemas.openxmlformats.org/officeDocument/2006/relationships" id="270" r:id="R29d31f0b28864597"/>
    <p:sldId xmlns:r="http://schemas.openxmlformats.org/officeDocument/2006/relationships" id="271" r:id="R76c3b0cd260f4fcd"/>
    <p:sldId xmlns:r="http://schemas.openxmlformats.org/officeDocument/2006/relationships" id="272" r:id="R88b6d4b6eca24118"/>
    <p:sldId xmlns:r="http://schemas.openxmlformats.org/officeDocument/2006/relationships" id="273" r:id="Rfb9def8783cc4c94"/>
    <p:sldId xmlns:r="http://schemas.openxmlformats.org/officeDocument/2006/relationships" id="274" r:id="R3b6598534c514d9b"/>
    <p:sldId xmlns:r="http://schemas.openxmlformats.org/officeDocument/2006/relationships" id="275" r:id="Rea47ea0b670c4c41"/>
    <p:sldId xmlns:r="http://schemas.openxmlformats.org/officeDocument/2006/relationships" id="276" r:id="R3fb25dd0c35a43d6"/>
    <p:sldId xmlns:r="http://schemas.openxmlformats.org/officeDocument/2006/relationships" id="277" r:id="R1a89accd82a847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16f11ff9a34918" /><Relationship Type="http://schemas.openxmlformats.org/officeDocument/2006/relationships/slideMaster" Target="/ppt/slideMasters/slideMaster1.xml" Id="Rb120d77d38a44269" /><Relationship Type="http://schemas.openxmlformats.org/officeDocument/2006/relationships/notesMaster" Target="/ppt/notesMasters/notesMaster1.xml" Id="R2896d5af817b42a3" /><Relationship Type="http://schemas.openxmlformats.org/officeDocument/2006/relationships/presProps" Target="/ppt/presProps.xml" Id="Rc6c2254f44f843a6" /><Relationship Type="http://schemas.openxmlformats.org/officeDocument/2006/relationships/tableStyles" Target="/ppt/tableStyles.xml" Id="Rdf3cfc905a0548db" /><Relationship Type="http://schemas.openxmlformats.org/officeDocument/2006/relationships/slide" Target="/ppt/slides/slide1.xml" Id="R3a321b3e0e444b30" /><Relationship Type="http://schemas.openxmlformats.org/officeDocument/2006/relationships/slide" Target="/ppt/slides/slide2.xml" Id="R07fc62a355a748e0" /><Relationship Type="http://schemas.openxmlformats.org/officeDocument/2006/relationships/slide" Target="/ppt/slides/slide3.xml" Id="Rf5ff4079ae4348bc" /><Relationship Type="http://schemas.openxmlformats.org/officeDocument/2006/relationships/slide" Target="/ppt/slides/slide4.xml" Id="Rbd3ed16d2ab04245" /><Relationship Type="http://schemas.openxmlformats.org/officeDocument/2006/relationships/slide" Target="/ppt/slides/slide5.xml" Id="R1b589ca0fcb04b14" /><Relationship Type="http://schemas.openxmlformats.org/officeDocument/2006/relationships/slide" Target="/ppt/slides/slide6.xml" Id="R268650b1be4a4009" /><Relationship Type="http://schemas.openxmlformats.org/officeDocument/2006/relationships/slide" Target="/ppt/slides/slide7.xml" Id="Re32bb2c7426b49c0" /><Relationship Type="http://schemas.openxmlformats.org/officeDocument/2006/relationships/slide" Target="/ppt/slides/slide8.xml" Id="Rec2ac0f48c034d2f" /><Relationship Type="http://schemas.openxmlformats.org/officeDocument/2006/relationships/slide" Target="/ppt/slides/slide9.xml" Id="R860647ba020340b8" /><Relationship Type="http://schemas.openxmlformats.org/officeDocument/2006/relationships/slide" Target="/ppt/slides/slide10.xml" Id="R1daa1f816e0648e9" /><Relationship Type="http://schemas.openxmlformats.org/officeDocument/2006/relationships/slide" Target="/ppt/slides/slide11.xml" Id="R4185d9b34c154ed4" /><Relationship Type="http://schemas.openxmlformats.org/officeDocument/2006/relationships/slide" Target="/ppt/slides/slide12.xml" Id="R4121dbd840ba49fa" /><Relationship Type="http://schemas.openxmlformats.org/officeDocument/2006/relationships/slide" Target="/ppt/slides/slide13.xml" Id="R714623f66afe4167" /><Relationship Type="http://schemas.openxmlformats.org/officeDocument/2006/relationships/slide" Target="/ppt/slides/slide14.xml" Id="Re9c48697da294203" /><Relationship Type="http://schemas.openxmlformats.org/officeDocument/2006/relationships/slide" Target="/ppt/slides/slide15.xml" Id="R29d31f0b28864597" /><Relationship Type="http://schemas.openxmlformats.org/officeDocument/2006/relationships/slide" Target="/ppt/slides/slide16.xml" Id="R76c3b0cd260f4fcd" /><Relationship Type="http://schemas.openxmlformats.org/officeDocument/2006/relationships/slide" Target="/ppt/slides/slide17.xml" Id="R88b6d4b6eca24118" /><Relationship Type="http://schemas.openxmlformats.org/officeDocument/2006/relationships/slide" Target="/ppt/slides/slide18.xml" Id="Rfb9def8783cc4c94" /><Relationship Type="http://schemas.openxmlformats.org/officeDocument/2006/relationships/slide" Target="/ppt/slides/slide19.xml" Id="R3b6598534c514d9b" /><Relationship Type="http://schemas.openxmlformats.org/officeDocument/2006/relationships/slide" Target="/ppt/slides/slide20.xml" Id="Rea47ea0b670c4c41" /><Relationship Type="http://schemas.openxmlformats.org/officeDocument/2006/relationships/slide" Target="/ppt/slides/slide21.xml" Id="R3fb25dd0c35a43d6" /><Relationship Type="http://schemas.openxmlformats.org/officeDocument/2006/relationships/slide" Target="/ppt/slides/slide22.xml" Id="R1a89accd82a8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2b33db2e3641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dfb35d20334660" /><Relationship Type="http://schemas.openxmlformats.org/officeDocument/2006/relationships/notesMaster" Target="/ppt/notesMasters/notesMaster1.xml" Id="R543c1ebb49d448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37a4bcc0364ece" /><Relationship Type="http://schemas.openxmlformats.org/officeDocument/2006/relationships/notesMaster" Target="/ppt/notesMasters/notesMaster1.xml" Id="Rd48435cd6e3148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1aaaa6f9734cca" /><Relationship Type="http://schemas.openxmlformats.org/officeDocument/2006/relationships/notesMaster" Target="/ppt/notesMasters/notesMaster1.xml" Id="R546d201a801745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11b6778be6472b" /><Relationship Type="http://schemas.openxmlformats.org/officeDocument/2006/relationships/notesMaster" Target="/ppt/notesMasters/notesMaster1.xml" Id="R834084322ea840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ef2c28424e45da" /><Relationship Type="http://schemas.openxmlformats.org/officeDocument/2006/relationships/notesMaster" Target="/ppt/notesMasters/notesMaster1.xml" Id="Rae723aae47634e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7e6f7cab1f4c24" /><Relationship Type="http://schemas.openxmlformats.org/officeDocument/2006/relationships/notesMaster" Target="/ppt/notesMasters/notesMaster1.xml" Id="R61d9cb8fbb5749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65b704417246aa" /><Relationship Type="http://schemas.openxmlformats.org/officeDocument/2006/relationships/notesMaster" Target="/ppt/notesMasters/notesMaster1.xml" Id="R89b448e0264a4b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edfa1e0b3b42d9" /><Relationship Type="http://schemas.openxmlformats.org/officeDocument/2006/relationships/notesMaster" Target="/ppt/notesMasters/notesMaster1.xml" Id="Rf61b754d8b604c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3ef7bf5f984649" /><Relationship Type="http://schemas.openxmlformats.org/officeDocument/2006/relationships/notesMaster" Target="/ppt/notesMasters/notesMaster1.xml" Id="R6f4046503fbe4b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23af4a15c24b19" /><Relationship Type="http://schemas.openxmlformats.org/officeDocument/2006/relationships/notesMaster" Target="/ppt/notesMasters/notesMaster1.xml" Id="Rc83c35dc6d364b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ba1d8a7cd74360" /><Relationship Type="http://schemas.openxmlformats.org/officeDocument/2006/relationships/notesMaster" Target="/ppt/notesMasters/notesMaster1.xml" Id="Rd27b9e3acb6b48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f4e3dfbce248d1" /><Relationship Type="http://schemas.openxmlformats.org/officeDocument/2006/relationships/notesMaster" Target="/ppt/notesMasters/notesMaster1.xml" Id="Rd2e38652be4246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7b4ed9101b40a0" /><Relationship Type="http://schemas.openxmlformats.org/officeDocument/2006/relationships/notesMaster" Target="/ppt/notesMasters/notesMaster1.xml" Id="Rb2f63c3bbc3e4b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c965da4c214921" /><Relationship Type="http://schemas.openxmlformats.org/officeDocument/2006/relationships/notesMaster" Target="/ppt/notesMasters/notesMaster1.xml" Id="R7475ea96863642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1fc13c98d84981" /><Relationship Type="http://schemas.openxmlformats.org/officeDocument/2006/relationships/notesMaster" Target="/ppt/notesMasters/notesMaster1.xml" Id="R3056c150a16144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12f3ebcaea4aa7" /><Relationship Type="http://schemas.openxmlformats.org/officeDocument/2006/relationships/notesMaster" Target="/ppt/notesMasters/notesMaster1.xml" Id="Rab0581b540a444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ac90b9e64d45ff" /><Relationship Type="http://schemas.openxmlformats.org/officeDocument/2006/relationships/notesMaster" Target="/ppt/notesMasters/notesMaster1.xml" Id="R6b1a43a8395745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0941b672bb4c0a" /><Relationship Type="http://schemas.openxmlformats.org/officeDocument/2006/relationships/notesMaster" Target="/ppt/notesMasters/notesMaster1.xml" Id="Ra8c3dda93fcd46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3d2756855542fe" /><Relationship Type="http://schemas.openxmlformats.org/officeDocument/2006/relationships/notesMaster" Target="/ppt/notesMasters/notesMaster1.xml" Id="R0a8189ceda4043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63a5a95ccb49a0" /><Relationship Type="http://schemas.openxmlformats.org/officeDocument/2006/relationships/notesMaster" Target="/ppt/notesMasters/notesMaster1.xml" Id="R9ef97c37947340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41d05908b247cc" /><Relationship Type="http://schemas.openxmlformats.org/officeDocument/2006/relationships/notesMaster" Target="/ppt/notesMasters/notesMaster1.xml" Id="R55c3b30190c047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9bc457db6a4664" /><Relationship Type="http://schemas.openxmlformats.org/officeDocument/2006/relationships/notesMaster" Target="/ppt/notesMasters/notesMaster1.xml" Id="R0c0505db1bb1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4-10 and 18-31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6-10, 18, 23-31 and 49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23-31 and 41-46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41-46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21, 26, 31, 48-49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 and 21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 and 21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39-46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 and 21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23-31 and 49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 and 21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 and 21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- C:/Users/LIKKI/Documents/ChatGPT/david/output/presentations/Flywire_Future_State_Implementation_Blueprint.pptx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0842cc2dd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3ee20d2c614ae9" /><Relationship Type="http://schemas.openxmlformats.org/officeDocument/2006/relationships/slideLayout" Target="/ppt/slideLayouts/slideLayout1.xml" Id="R62ca843fe6ad40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ca843fe6ad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508237dd249a5" /><Relationship Type="http://schemas.openxmlformats.org/officeDocument/2006/relationships/notesSlide" Target="/ppt/notesSlides/notesSlide1.xml" Id="Rf80baa84d44149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5d23e999b4964" /><Relationship Type="http://schemas.openxmlformats.org/officeDocument/2006/relationships/notesSlide" Target="/ppt/notesSlides/notesSlide2.xml" Id="R754ac3edf81944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7781992314dd0" /><Relationship Type="http://schemas.openxmlformats.org/officeDocument/2006/relationships/notesSlide" Target="/ppt/notesSlides/notesSlide3.xml" Id="Rf101fd49eac3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13e8f1a71464c" /><Relationship Type="http://schemas.openxmlformats.org/officeDocument/2006/relationships/notesSlide" Target="/ppt/notesSlides/notesSlide4.xml" Id="R5f49f72cec4d4c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2a6df2e574789" /><Relationship Type="http://schemas.openxmlformats.org/officeDocument/2006/relationships/notesSlide" Target="/ppt/notesSlides/notesSlide5.xml" Id="R148ac74b747746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57a3a259d446d" /><Relationship Type="http://schemas.openxmlformats.org/officeDocument/2006/relationships/notesSlide" Target="/ppt/notesSlides/notesSlide6.xml" Id="R18a082b573c746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365f8a90242e6" /><Relationship Type="http://schemas.openxmlformats.org/officeDocument/2006/relationships/notesSlide" Target="/ppt/notesSlides/notesSlide7.xml" Id="R459d30a8752047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c84c888694cdd" /><Relationship Type="http://schemas.openxmlformats.org/officeDocument/2006/relationships/notesSlide" Target="/ppt/notesSlides/notesSlide8.xml" Id="R764a5166e98844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da42002c343da" /><Relationship Type="http://schemas.openxmlformats.org/officeDocument/2006/relationships/notesSlide" Target="/ppt/notesSlides/notesSlide9.xml" Id="R6e7ce8099e0647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60c990da54027" /><Relationship Type="http://schemas.openxmlformats.org/officeDocument/2006/relationships/notesSlide" Target="/ppt/notesSlides/notesSlide10.xml" Id="Rf32dcb5c2e664b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873ec26414bd9" /><Relationship Type="http://schemas.openxmlformats.org/officeDocument/2006/relationships/notesSlide" Target="/ppt/notesSlides/notesSlide11.xml" Id="Rd3d90d44eb9048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5f30266174e48" /><Relationship Type="http://schemas.openxmlformats.org/officeDocument/2006/relationships/notesSlide" Target="/ppt/notesSlides/notesSlide12.xml" Id="R1469cdc45c9b41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d408b3a24174" /><Relationship Type="http://schemas.openxmlformats.org/officeDocument/2006/relationships/notesSlide" Target="/ppt/notesSlides/notesSlide13.xml" Id="Rfb5c13faaeb046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8f81c02414139" /><Relationship Type="http://schemas.openxmlformats.org/officeDocument/2006/relationships/notesSlide" Target="/ppt/notesSlides/notesSlide14.xml" Id="R96d69447638242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d5f5bcfcf40f5" /><Relationship Type="http://schemas.openxmlformats.org/officeDocument/2006/relationships/notesSlide" Target="/ppt/notesSlides/notesSlide15.xml" Id="R2a4af865e6814c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f1487dab04ea7" /><Relationship Type="http://schemas.openxmlformats.org/officeDocument/2006/relationships/notesSlide" Target="/ppt/notesSlides/notesSlide16.xml" Id="R128aa57ceafc44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4db63382e4d53" /><Relationship Type="http://schemas.openxmlformats.org/officeDocument/2006/relationships/notesSlide" Target="/ppt/notesSlides/notesSlide17.xml" Id="Rb5947d16b54843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78cb8a6dd49f9" /><Relationship Type="http://schemas.openxmlformats.org/officeDocument/2006/relationships/notesSlide" Target="/ppt/notesSlides/notesSlide18.xml" Id="Rdef980930a134c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0ee2fc7cc4d2f" /><Relationship Type="http://schemas.openxmlformats.org/officeDocument/2006/relationships/notesSlide" Target="/ppt/notesSlides/notesSlide19.xml" Id="R098e312b7da64d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895a274a646f5" /><Relationship Type="http://schemas.openxmlformats.org/officeDocument/2006/relationships/notesSlide" Target="/ppt/notesSlides/notesSlide20.xml" Id="R916796520ddb42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dbe875c604384" /><Relationship Type="http://schemas.openxmlformats.org/officeDocument/2006/relationships/notesSlide" Target="/ppt/notesSlides/notesSlide21.xml" Id="Rcfcb98122c8642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46bd09e504b3f" /><Relationship Type="http://schemas.openxmlformats.org/officeDocument/2006/relationships/notesSlide" Target="/ppt/notesSlides/notesSlide22.xml" Id="R0893f31351864d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49257-26B0-45CB-A37E-2098AD65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FLYWIRE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7264B-2F37-4B3A-814F-8D601688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7810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and Go-Live</a:t>
            </a:r>
          </a:p>
          <a:p xmlns:a="http://schemas.openxmlformats.org/drawingml/2006/main"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0F7B7-5F37-4568-AE29-4A41695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86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Physical design, delivery matrices, migration, testing, deployment and production 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17BF9-0FB7-4C4F-A3FA-59B83A56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73B69-45BC-4969-905A-AD6CFF2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81200"/>
            <a:ext cx="180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</a:t>
            </a:r>
          </a:p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PROVE</a:t>
            </a:r>
          </a:p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 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C62F2-F696-4B00-880C-CF6F18F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Standalone team implementation deck • August 2026</a:t>
            </a:r>
          </a:p>
        </p:txBody>
      </p:sp>
    </p:spTree>
    <p:extLst>
      <p:ext uri="{BB962C8B-B14F-4D97-AF65-F5344CB8AC3E}">
        <p14:creationId xmlns:p14="http://schemas.microsoft.com/office/powerpoint/2010/main" val="21399039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F375D-7C78-4488-9B71-096EA42C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7CE85-9E25-41E3-8694-42A62BA7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is viable when every design decision is converted into testable production evidence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7BB1E-EF3A-4BF0-B079-23B3E65C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07A9F-FF6C-4822-9EDF-A154184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 defines the destination. Go-live requires physical configuration, executable services, controlled migration and measurable acceptance.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D2BDC-C8C7-4378-876A-6B2FBC0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D34AF-C847-4E60-8806-E8361FA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36283-774E-4769-86AC-84C08071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Fields, rules, contracts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B84F9-C3ED-4FD0-A37F-4AA128C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3152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F4FFD-F844-4143-83E3-F635F66B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724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88E88-3DDA-4CE9-88FE-979BAAB5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76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5E688-22DF-4610-B859-FD889016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200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Metadata, code, 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5ABBA-61E8-473A-9EC6-DA752C3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885" y="3152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23737-C60C-42C1-A43B-DC7C613F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724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54DC3-74AF-4F7A-935F-0C83A810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876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C56CD-A931-412A-9C44-3F3E4F7D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200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SIT, UAT, 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3DEEA-E6BE-4861-BFEA-46BF3311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152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3B64C-F37B-47A1-8E1A-E0158B7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24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39B3C-B241-4CBC-9C14-EF1B751D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876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2B200-BA1F-4E94-990D-FDAEFAF0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200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Cutover and rollback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A0175-8894-44D4-AEF3-3E8DD87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845" y="3152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C7E22-253B-4F10-8343-491418A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2724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9F43E-C4EA-4B1D-8F57-E4B00D6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876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474FE-958B-4BB1-8B33-8120365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3200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Monitor and reconcile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769FD-FA93-43A0-9F17-2081E3BF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Production definition of 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D7CC0-12DE-4814-9361-B048D2C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 unowned data or integration path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 calculation without a versioned rule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 go-live without reconciliation and rollback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49C1B-8697-4CBE-990D-D8BA96A2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80B82-34EE-41C6-B4B9-DA7E672A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48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GO-LIVE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736362-7567-496D-994D-46A946AC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673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981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commercial operating model—not only a working feature.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36646-F26B-4E89-AFE2-D243286D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7631256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978CA9-A8B4-4FCC-944C-B64A4F6F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7487F-9CF8-4111-A1FD-1B1C3002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transformation objective maps to a build package and an acceptance gate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C352B-1EBB-49E6-ADD8-5F8DF241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554B4-7121-4970-B700-DB21F481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716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DD949-0DE4-458B-B914-F7331453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7716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7B0D5-2BC5-4638-A807-81BA73EE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716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PRIMARY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B776A-66BC-41AA-91FD-0405230F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716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GO-LIVE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AE3F1-68ED-4B09-B775-64AC1F2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F31D0-4D34-45FD-8D7B-C50AC7E2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0027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Unified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8A61B-ABCD-46F7-8C99-310185F9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0027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 hierarchy, master data, 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086EB-0950-4BD6-B3A0-9A34E0BE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20027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Golden-record match and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2C5F6-4853-40D2-B0A8-D7FA5385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002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Duplicate and sync thresholds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10BDC-3625-4256-999F-9C29746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01D12-4375-4ECB-9EC3-2BDD4645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9051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Quote-to-Cash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FC689-80C7-4CD4-B051-D2DD5FC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0512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Product, pricing, approval, document and order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D5787-B344-4039-86CD-70B2A4AF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0512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Scenario tests and calculation 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B091D-89F5-42DF-8B27-FF9B7C9F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051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UAT signed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F87F3-8256-47A8-A40A-ACEBC171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437B6-89CB-495E-BC44-1583D33C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0997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lifecycle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BA811-60FB-4969-B294-D55293F4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997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Repository, clauses, signature, obligations and amendments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D2AD9-27BD-414D-95C2-2CECCE7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60997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lineage and obligation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D5089-6D11-41BB-A6B1-EE6D9084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099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and operations sign-off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306D2-A231-4ED5-B146-A8CDBEFE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3BF8AD-46D8-434B-8CD4-783D7AA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3148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B6230-309D-42A1-AEBD-B21DEAE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31482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 definitions and finance actual reconciliation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63B37-FDAA-442F-9AE1-2C7032E0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1482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ARR/MRR/TCV variance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29FA82-37C3-4FA6-B833-3ADD7231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Finance tolerance passed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619F2-1512-487F-837B-02C5B8B4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97462-615E-47E8-81AE-3E34F36E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1967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8E734-6F94-4741-8AC8-98351073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01967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Monitoring, retry, audit and runbooks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608DA-410E-4757-8287-915F815E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01967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 simulation and support drill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02C72-BE16-4B55-8135-40DEDBFD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196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readiness approved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B6185C-D469-4B4A-B650-252D9446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41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matrix is the controlling traceability layer: no requirement closes without linked build evidence and an accountable approver.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93F995-13DE-4669-86F2-EEEBF858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3231810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D2D283-F44A-4CF0-8626-B8FABCB0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EFE11-AF6B-42FD-A630-6ADC8DE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Seven synchronized workstreams turn the logical blueprint into a deployable solution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CD96E-CE76-45B7-9269-FBB8DFA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C4A21-8391-42AE-AD14-E864A36A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0E375-A556-4692-96C2-D72D6F1E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Physical 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BF0E1-D197-4DC8-BAF0-6E548CD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Objects, fields, keys, history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2571750"/>
            <a:ext cx="514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52196-00D4-4F2B-A52C-036BBF9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DDFFF-B344-4E0B-A30C-2D87F855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95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Application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11F6D-CE9B-46D1-8CDF-9B1816D2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Pricing, approval, document, contract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096000" y="2571750"/>
            <a:ext cx="514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05E72-DA0D-41DB-AC92-4D2216C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179E9-A1C9-4C0C-86C8-B5D0E94F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contracts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44634-56EC-4250-8A6B-0CA7C40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APIs, events, retries, reconciliation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3638550"/>
            <a:ext cx="514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081A6-C0E3-48D9-99B3-E3BF366D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5B1EE-F609-4779-9BCD-5D9C1AE5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and 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0FB7D-1A1C-4B68-A504-AFB9B9A4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Access, audit, retention, ownership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6096000" y="3638550"/>
            <a:ext cx="514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82985-9D60-4117-AEAD-26F62679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80323-9533-4E44-8EE1-8B4891F4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421DF-F64E-47FF-893D-DB50F14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Mapping, cleansing, mock loads, cutover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4705350"/>
            <a:ext cx="514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786A2-3E8F-467D-9D51-D13E0F2B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D36B4A-EB4F-422B-9715-48104AEA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56EAB-739A-4696-B932-8DC43874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Unit, SIT, UAT, NFR and regression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6096000" y="4705350"/>
            <a:ext cx="514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4CCC1-FE9F-46A3-B38C-CD6C3C7A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970C6-45BB-40EC-ABAF-BBFF5841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Release and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ADC9C8-7946-416F-8F32-48CD7DF4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Deployment, rollback, monitoring, hypercare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5772150"/>
            <a:ext cx="5143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F66DC9-C203-48B0-B98B-3B97F988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9101977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4F7187-F75D-423A-A1C9-D5519AA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23C90-BD35-4FCB-80DD-B7D6B515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physical data model must define storage, ownership, keys and retention for every domain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AECF5-4A7C-4040-89C1-298331C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036B4-1503-4166-A9A7-54E19AD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335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BCB88-B747-4C12-8691-47EE6F11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33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PHYSICAL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A0EF5-5F69-4C0F-ADFF-CE1F405C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7335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492D9-5EE3-4353-B517-BCB8C1FF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7335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SYSTEM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D7398-024D-45E3-8F46-EE2A46B2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9AF32-BE17-4EBC-8912-9A4884D3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6217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AC212-115F-43DB-A91A-37683D13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1621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Account, hierarchy, legal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0DDE8-90DF-4F28-9828-62A30A46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62175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Golden ID, match policy, survivorship,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E3D32-BFDF-4F8B-81C5-302620D5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6217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CRM data steward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3215F-D1B4-4F3C-9EAE-0334DABF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0AF8A-9A1B-4F65-87AB-681E9DC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9082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FD183-432E-40B7-9E3D-E3805AB5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79082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Product, price book, 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A8D4E-D494-4DE2-B9AD-DD947F92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790825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SKU key, effective dates, bundles, attributes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EB50F-E1EB-4839-AA7D-ABC1DE4B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9082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5EFB4-9E0D-4AB7-A1EB-0FA330C0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D4466-2B32-4135-8A04-E591B65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1947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A6900-3490-4325-9E7D-E46306A5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4194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Quote, line, schedule, metric snapshot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67C7B-C56D-4A0A-A9BB-8D662677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419475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Version, state, locks, currency, term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9E227-E48B-48B4-BDA5-7E4D5934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1947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A4533-8E54-429D-8C39-4323C43E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05527-65EA-4C88-90EC-04F85387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4812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FD7BE-2368-455E-B149-2D7F692E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04812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Rule, request, step,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8C711-98B1-422E-AE03-8EC937C6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048125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Priority, persona, SLA, reason,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F5ACD1-173D-4E5E-A783-22F457E3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4812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Deal desk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07E3F-10F3-46CE-8F76-15537E4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CCD07-515A-4C0D-89B0-5EF9EC7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7677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CC54E6-98AC-42F1-AC54-F0CF8A82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6767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Contract, line, clause, obligation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642F4-12B8-47D2-85A3-5D6C50A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676775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Entity, accepted version, dates, renewal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60065-392D-405A-9F5D-F28023C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7677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7710EF-FBDB-4A40-9C57-92A53824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18F256-A5BF-4F45-84F8-FC9B5E19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0542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A66E18-AC9C-4498-9857-91C518D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30542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Order, event, acknowledgement, variance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3E70D7-30E2-4248-BEBD-A0FCEAEA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305425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Correlation, retry, status, reconciliation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DFD8CC-77AF-47A8-94E3-410EDEC8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305425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 / finance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4E774F-3358-434F-8F44-DA78C4A2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24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field specification must include datatype, requiredness, default, source, validation, editability by state, security and migration rule.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9CCC02-11EA-44F7-AEF0-D0F92B6E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2126598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CB6574-84C4-423E-84CB-259B70FB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C8E2D-84DD-424C-B00A-C4A6E4B7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field-level design standard prevents ambiguous configuration and migration defects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6883F-0FCE-49E7-B980-7D7BC862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F675F-99F4-4079-8AE3-56D8B986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145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12534-8A92-4527-A45D-519570C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714500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WHAT MUST BE RECORDED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8EDE3-55BD-4E24-99C1-EEAAB0FD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145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DA38E-C1D6-46E7-A73A-0BCCFBA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9EB51-2B19-4CDF-8A6F-73181F1F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43125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73FDF-8C7D-4A99-9424-C08E31D3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43125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Single approved definition and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1E0F7-5349-4D97-AC95-6757147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431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start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B5B9E-AA5E-42DD-83BB-BB2C8C31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AE091-9980-4CD1-8B45-495D2689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24150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definition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BABC6-CE5C-42A4-BE39-9647A502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24150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Object, API name, datatype and length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FD309-D70A-47D1-B0CD-ABDBA944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241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Contract.StartDate / 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67478-3107-4413-BD36-5231D75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C1B17-7F12-4919-8661-3FD7D66A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05175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43C28-BE64-412A-B74D-EAFE2C62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05175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Requiredness, default and state-based editability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7EEBF-8405-4462-BBD2-90FDE347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0517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Locked after acceptance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11137-684B-41A1-8CBB-E788916C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D9F84-50BA-422A-9FF3-58F231E6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C8631-5336-4C09-91A0-27882A80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886200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Validation, uniqueness and allowed values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8425C-923D-42D1-B019-8CB186A4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8620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End date must follow start 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B6C33-E34A-40CE-A4D2-166BA03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6BFA9-106E-49DF-B4B8-AECD8085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67225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188F5-A2B3-4B78-BFA0-6137418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67225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Classification and read/write personas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0A729-BAAF-4D96-B84F-6DA81807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672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write; finance 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199ADB-0251-4151-8D8F-644021E6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D97878-F509-4737-8A0C-8ED90A4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48250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D0BCF5-7460-4CEF-8E0A-B3307B66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048250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Source, transformation and downstream consumers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3F7060-C3CF-4F98-A210-28EC1BF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482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Accepted quote → contract → finance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F4221-A494-4C91-9F9F-BD2033A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CA10E1-6EBE-475B-AE89-F94ABBF0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29275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30A589-67F4-48FD-A898-0EBD701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629275"/>
            <a:ext cx="586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History, retention, index and monitoring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5545D9-930B-4B3A-90FF-7CB97C83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62927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 enabled; seven-year retention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FF9021-37E7-4787-A430-5F17CAF5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648908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9F2B25-A3F4-445D-8092-6A363DD7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28ACC-488A-4F6F-8334-406FE7AA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04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boundaries isolate policy decisions from lifecycle execution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9347B-A449-4020-8238-D4D603C6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FA9D0-5BA9-4BCF-86FC-2DFCE980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335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6D921-817B-4893-AD13-990E12AE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73355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7D481-3819-43D6-BC30-8EA33A24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33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INPUT /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D3248-F93D-4B46-9659-92C6DBD8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335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FAILURE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50F4F-8630-4D63-AB12-D6974221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8B66F-CD49-406B-A5FA-A909DB2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62175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F6223-CFE5-4A67-BFFE-43C83729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162175"/>
            <a:ext cx="3295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Resolve rules and create schedules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594B0-542E-4157-8406-DD893F49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162175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context → priced lines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13D5C-FAD6-49B8-B327-13FB4CA7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62175"/>
            <a:ext cx="2971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 pinning and calculation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ABCE6-7AA7-433A-86FA-7FB4063C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C75E0-F601-478E-A142-DF4EBF7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00350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E3B2F-3FD7-49A8-A633-A7D6AD3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00350"/>
            <a:ext cx="3295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Calculate ARR, MRR and TCV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8361B-5323-4FF0-A381-8A3F4C08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00350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Schedules → metric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A1025-E40B-4FAD-8462-59E42F0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00350"/>
            <a:ext cx="2971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Tolerance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E5203-4AA8-4203-9E02-9EF76FE5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7F4C6-7982-471F-94C0-7E3A886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38525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351CA-462D-457A-B630-A227E49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38525"/>
            <a:ext cx="3295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and execute approval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00D1C-6EF4-42D1-A410-1AF79187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38525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context → decisions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0C64F-BEB8-487F-B42D-1DEF3168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38525"/>
            <a:ext cx="2971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Locks, recall and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67A18-3C0E-405D-807E-61E89068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D266D-2F10-4F61-8E00-B8ACCAF5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76700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2D6A3-2427-479F-A96F-DE2A972D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076700"/>
            <a:ext cx="3295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version-controlled proposal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098C46-74A4-467E-B1CC-106EAD2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076700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Approved quote → document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45CDB-2FDB-42F9-AB2F-7D3C8D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76700"/>
            <a:ext cx="2971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Hash and template 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6D20F8-B67F-4409-9261-5F09D430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3803C-D7CB-4844-898D-75FD691C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14875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B0C48-D19C-4482-A549-BF214833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714875"/>
            <a:ext cx="3295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 accepted legal records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C47BB-DE38-4F18-AEC1-8B15BDEB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14875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Signature → contract and obligations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50A835-6AFA-4769-A4D0-D401EE5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714875"/>
            <a:ext cx="2971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Idempotent creation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0112EB-87B8-45D4-8B25-161109C1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4BF1C8-30DF-4FDD-B64D-11CF487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53050"/>
            <a:ext cx="1581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0B48B1-C524-42D7-8DE8-41C5CF4B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353050"/>
            <a:ext cx="3295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Publish, retry and reconcile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0876BE-4DE8-40A9-A810-7124B0CD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353050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Domain event → acknowledgement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6FD29E-36E9-4721-9F84-A8D2C0EE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353050"/>
            <a:ext cx="2971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Dead-letter and replay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691C43-3610-4EA6-B241-92EB71B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30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 contracts must define interfaces, methods, transaction boundaries, error codes, logging and test doubles before coding starts.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DE4783-603B-48CB-BFD6-E339A8B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7124088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F307E4-3BD6-403A-88E9-B2DA9F2C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CC9D0-66C7-42C4-A9F5-5A8F6F7C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transaction lineage connects configuration to acknowledged financial execution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2D1CB-E3A2-4F12-989C-3799E6D1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7FF10-E19F-4A30-8874-9D1AADC4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35DC3-7CBD-409A-83A8-C1E0034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DAECD-37A9-400D-86FA-8BE357EB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Customer, product,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67871-C01C-4D6B-B5B1-F8F6FCB5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24669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53602-EC3D-41A9-831B-B288ADC9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0383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5DF38-C308-46BA-A7E2-FA256CDE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1907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6257B-09E9-46C6-9CE8-7C15A2D6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5146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Schedules and 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51DC7-9C96-47CA-9470-DC81554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885" y="24669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BE0E4-96CF-46D6-8F92-DE2F2935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383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26431-6AC8-4966-B1B3-92FFB679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1907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1734B-5930-444B-8E26-F10B57B9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5146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Immutable quote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DC968-0341-4876-8A4B-A797C8CB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24669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767CF-A8D9-462F-8E27-2F080D6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0383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76A44-5C7C-47C4-96EF-B36092E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1907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98B72-440B-4983-BF2F-E73BD914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5146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Signature and obligations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A0202-51B4-40B5-9548-BEC67D12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845" y="24669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D26D2-C697-457B-A982-AC347177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20383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277CE-3F39-4C70-8207-98363608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1907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60A55-316D-4CD1-AA5B-F503EF3D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146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Order and finance 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BCFA8-25FD-45EE-B428-482F66A4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BEFORE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8D155-BD14-49CB-9572-848D641E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eligibility • required data • pricing completeness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0E95D-CC8A-4350-BCD6-6C86D826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BEFORE DOCUMENT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E7CF7-56E9-4FE1-B480-9D1658D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Approved version • template compatibility • metric snapshot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8DD6C-D7E3-4612-A22C-2394413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BEFORE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31056-21B0-42B4-9ED0-A945389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Signature • entity • dates • currency • accepted terms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50B2E-5A18-4719-B713-7BDDD342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BEFORE 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D2C9F-AC89-4D3B-A4A4-273C44F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01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Correlation ID • payload validation • destination readiness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73110-0150-4262-B4DA-8A417DF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3606161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AE98E3-E10B-4F1F-815E-5274C7D5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8EAB2-DF78-4886-A3A7-4E7EECA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and approval are governed by versioned rules and explainable decisions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8F195-29A7-4603-B71C-41451D2B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C0A5F-D745-4DCF-A250-CC7A973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B2CB9-98F4-4D69-8CEE-0E894789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51F79-24AE-4026-A1C9-2533CF92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Customer, product, term,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0E2B-97FC-4BF1-B34A-C4EC08F3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76B4F-3B64-44EF-9D1E-7C8AC93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1440F-FC7D-43C5-B8DD-80AE0510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D92D8-E8B9-4D41-8DF8-5B1CE46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Eligibility, tier, ramp, variance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2B0B5-3719-49B5-B690-4B9CA67C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88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F184C-4C25-4309-823B-6731D60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143DD-62CD-43B2-9337-DAF2F8D9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28B01-58DE-450D-8950-44B8456E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Persona, sequence, 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CB7D3-97EA-480C-8737-743D0F4A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4F334-FD14-4FB7-8CF5-54B4F6B4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695FA-59FE-4DFC-AF01-EC74ED75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1D5B8-2244-465E-BE5C-499B064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Approve, reject, 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1B67E-7BBE-4429-B1B8-532B32E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84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6846C-6D2A-4563-A91F-66FFA643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EE1C8-9CF4-4A6C-BBBF-0BF92100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LOCK +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1DD26-AF39-4BB6-902D-A665ACD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Immutable approved 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9CB8B-C9AD-4E3F-A152-4D9FCC15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38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RULE DIMENSION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478DB-4D84-4833-956C-2C80477A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385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CONFIGURATION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52624-1383-43BC-9325-F1C0FB67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385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TEST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8CB92-DFCF-4E8E-A8E7-2BAEDAD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196E5-2A4F-4810-BB39-F06D2952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6717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5018C-2487-43C4-B3A9-2611CCFE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06717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Precedence, effective dates, tier/ramp formulas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39882-6D95-485B-9EBB-AEBC89F4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6717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Expected schedule and totals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DCF26-5AC3-46C4-A873-DE90602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67EA4D-3A5B-4649-B13F-5CFA3504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196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8A2D4-DFEC-48DC-BC16-EB6126E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6196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Normalization, term, currency, rounding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FEA4C-7DD8-4DB4-B6E8-07EEFAAC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196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ARR/MRR/TCV comparison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C7F6C0-2789-4740-843C-802B980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FB2FD8-AF72-47BD-928D-B781DA7E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7207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C3B9B-5717-4DFA-8E0E-13E9DEF9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17207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Threshold, persona, ordering, exceptions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EA6CF8-9FC0-49E5-9A78-5B7F01E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7207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Resolved route and decision history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B11A24-BF20-4C7D-B048-2FAB34C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C75DDA-2D87-444F-A0D0-06FA543E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245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Change control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E6EF3F-9642-4149-889A-14602C82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7245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Material-change definition and reapproval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4EB8E4-8CDB-4983-BE55-E066D140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7245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 lock and resubmission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26BF89-1A58-4776-B6E5-2C1B104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7349226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756F5C-F284-4EFE-90EC-00ADE39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9E693-6A08-47F0-9817-EA0B03B5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integration requires an explicit contract, ownership and recoverability model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40573-06E2-421B-8ED8-EC65FD24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C4712-0D02-4CF7-810E-1AB4C70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526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CONTRACT 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45B01-93A1-484B-8249-C78E69A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752600"/>
            <a:ext cx="596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7931B-6A17-4364-B224-4CCB580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526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PRODUCTION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3F6FA-3C11-4C71-920A-BFA4165F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77346-E695-4E24-9848-1D34D8C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8122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B5DB5-E91A-45C2-92AE-FF36D8B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181225"/>
            <a:ext cx="596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Endpoint, authentication, authorization, certificate rotation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AA38D-4E31-4D29-BC34-9EEBCC80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8122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Successful security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44B98-B7A3-462A-BE74-775C97B7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FB35B-9EB3-47B7-A1B7-0CC959C3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0987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Payload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E884E-7512-4666-9667-D0B2E34C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09875"/>
            <a:ext cx="596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Schema, version, required fields, semantic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80ED4-1D7F-467E-8C1E-DC409B3A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098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test and sample payload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3E826-0280-4383-87EA-A038171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73D65-F68C-447E-84DB-11E42F60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3852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DB506-3967-45E9-A9BA-61A6940F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438525"/>
            <a:ext cx="596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Sync/async, ordering, timeout, retry and idempotency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2C96E-E811-46E5-8451-46A918CA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3852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Replay without duplication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B0CDF-C0E8-474E-825C-9E6B7C7C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1517E-939E-4B8E-8E32-A19496CF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6717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817E0-AEA9-4DAC-AE48-92D98700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67175"/>
            <a:ext cx="596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Correlation ID, source version, timestamps and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2E130-5A0C-4D1B-B0D1-5778A61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671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End-to-end trace 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9FEAF-4116-4886-A549-33697F9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44E5D-5B3E-4B7E-9F2F-1515A5E5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9582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 handling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1BE8A-D9D6-4A72-A04F-38E893EC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695825"/>
            <a:ext cx="596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Dead-letter, alert, owner, remediation and reprocessing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F4BAD-E370-4474-A1AE-DF59F15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69582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 simulation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3C62F-4A1C-4D9D-A1E9-2C16A0CD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BB39A-B5FC-458A-A57A-21B66D2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2447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Reconciliation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B28B4-FF43-4417-A220-29A03ED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324475"/>
            <a:ext cx="596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Acknowledgement, expected totals, variance and close process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334004-ED31-4C06-A1E5-789B944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3244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Balanced control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EE28A-532C-4EEF-87F9-366EA285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6811247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D50D14-6C69-43E5-9EF7-E17C4A10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589C7-7458-417D-9B1B-9E08CCEB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 proceeds by governed waves with measurable entry and exit criteria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3C335-8ED6-4AAD-BAFB-ED4977EA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3E3AA-432D-4352-87FD-5906DD85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F1ABB-C2CE-4D7C-B47B-AEC3BE84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34E5-3D4B-4F1A-9227-6A5C9C3A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Volume, quality, ownership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6D5B7-DBA9-402B-84FC-ABAA5D1F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2390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AE8C2-22C7-4D05-9CDE-6EBD6DB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1962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7D3E7-A03F-4EC0-BE97-C15C1662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114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0C44A-2E2C-41A6-8300-DE85E20F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438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Source to target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84C94-4D33-4A1F-9528-83386B51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885" y="2390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D210E-8106-4317-B1D8-83FC46EC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962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9C7C9-6BAD-4E84-BD66-ECFA614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114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98E78-B637-4A27-93EF-0B0510E5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438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Duplicates and reference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3EE6B-6620-417A-981A-70934EDF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2390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A72CF-9EE0-451A-964F-3D7695C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1962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7127D-BE51-4183-9E4E-16151C1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114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MOCK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99BC3-C13E-4B39-A002-D8D1A04C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438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Validate and reconcile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E683A-E121-4362-8517-95CFAB6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845" y="23907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07F7A-CF90-4275-BD14-1BA67FD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19621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80A6C-E354-4E43-B6EF-8E154B28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1145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CUTOVER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AFFD3-ED6C-4206-B788-1AAB218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4384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Freeze, final load, 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B3353-2E30-448D-B983-A51439BB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348BE5-70D6-4C27-A90D-7CED9567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DCB85-5C3C-41C8-BE4A-2F7065D0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A3D1A-253F-4FFC-BBA4-B3B0776D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Reference data and identities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F06731-3453-4BA8-B643-8D3CF1B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A708C-861B-4292-B1B4-D92137F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7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9075D-C967-4B96-B69C-969CACFC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96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Customers and hierarchies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5908C-A778-4407-BDBB-4ACDA9A8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433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DFD03-B4B6-4D6C-8F9E-144FA403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7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9F296-AB8B-4BC9-B15C-B75C1CBE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96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Products and commercial configuration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683FA1-5F10-4B3F-87D2-48BDD9C6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433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E22F82-BEBA-4316-84FC-67678CB8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71397-91BF-492A-940D-50AB160C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196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Open quotes, contracts and obligations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643761-1CB5-444A-BA79-DCAB4840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F9FF48-C945-4300-9563-3041672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7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Wave 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496742-D5D9-4B78-A712-DC11A3A4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196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History, archive and reporting balances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932EA1-4490-4018-9A87-5CE5CC2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28CEC1-DCAC-4E41-A3AB-44F50826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Exit gate: record counts + control totals + relationship integrity + exception ownership + business sign-off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D9E4AB-3708-4EE7-8D11-500E552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7225125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0B2D1-87C7-4496-ABFD-EECC1504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8AD8-0289-464D-9B08-1B1C533F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migration mapping matrix controls lineage, transformation and reconciliation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5BE4D-E045-4D4D-B586-62D88225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31161-F3D5-4EBB-8B16-F84D1CE3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145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MAPPING COLUMN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2318A-7308-4A3D-9AB4-B9139E89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7145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CF54E-D15C-48AA-A171-A1541A2C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145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MANDATORY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8FF2B-A841-4516-BF9D-B95A47B7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D8AB3-0F7A-4584-8B2F-43F6B4B1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431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object / 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56E25-3757-4F59-BAC3-17CF9B92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43125"/>
            <a:ext cx="567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Identify authoritative origin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51FFC-D338-4F57-BE6E-CD8EE417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431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owner approved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71DC1-6627-41F5-B7DC-A4D84D1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29D72-AEDF-4C2E-B620-7D600349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241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object / 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55B3E-54B3-4325-BCA7-83A27884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24150"/>
            <a:ext cx="567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Define physical destination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91629-1781-4F6C-B1B4-1CFDC838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241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design 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D0D88-02C4-4589-9AF7-554B363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BEC88-9A84-4BA6-A46E-2E085F6E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051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879EF-751D-462B-8018-3D663E3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05175"/>
            <a:ext cx="567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Default, conversion, split, merge or derivation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39773-0BDA-41B4-B33B-78C646C5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0517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 version and test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41220-7704-4B5C-A78F-743E003C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62EF7-7AFE-4DA4-91A6-377ECBE3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 lookup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E6751-D032-4FC9-AE2C-FE63BCC7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886200"/>
            <a:ext cx="567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Resolve customer, product, entity and currency keys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5CE27-48F5-464F-AB71-B3C616E1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8620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Unmatched exception queue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B0BA5-DF47-4528-93F3-E14F9F2B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FCB0C-0AFB-4E57-95D5-0485310C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672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D3E42-627C-481C-8E80-E67DEE9B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67225"/>
            <a:ext cx="567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Requiredness, format, uniqueness and relationship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801E44-2A21-4A6F-92E9-56B30B3E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672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Reject/quarantine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F57EE-1041-4A55-991A-FFAD5D7E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4EA72-640F-4F31-A2B8-240BB52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482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Reconciliation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A16F0-75DE-48E5-B981-E7257BED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48250"/>
            <a:ext cx="567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Count, amount, hierarchy and status controls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2DB8F-A696-4E0A-B94C-9FA3A1E7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482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Signed control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6BA42E-6C94-41FA-B59A-3E8BF7EA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77019-A5C1-4A74-90EE-A084B8F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292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E64E9-102A-4F11-9D09-F1590A90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629275"/>
            <a:ext cx="567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Migrate, archive, retain read-only or exclude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B7692-C948-4593-907F-4D8F9769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62927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and business approval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29BBA-221B-4499-8AA6-9BD7D17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5636871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336F50-A086-4101-B34C-33E7751F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CF60C-8450-40D7-9D90-2E15D38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is designed by persona, lifecycle state and data classification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2F4DD-24DF-43C5-B5C4-7E1FC8D6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A1478-68CB-44B7-91B4-BA5CA456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335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1B9DF-E603-4E6C-9A2D-2A75ED6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335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CREATE / 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3E410-47D6-42C5-A666-438F4E71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335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33E77-11D0-4909-8BB2-2E313EF0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335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SENSITIVE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69269-76E4-44EB-831D-0E57B026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7335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35132-9CB5-480D-B78A-C38F3B2F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1AC22-82DC-41BA-9829-28B7588A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621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3BC81-F7E5-4AA7-A4F0-A1E0B6C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1621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Draft quote and customer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FD277-6A1B-4986-8C04-446B28EA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621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Submit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2DDFD-C0F9-4AE8-8954-A8A31E0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621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548B3-AE4D-449E-AE71-6B8F279C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6217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Ownership and field 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B9EB9-DAA9-4631-92D0-4C3173C5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304B3-7A42-4797-878D-3C5F7E86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9082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Deal desk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E4C71-118A-4AFB-AC42-B404B610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9082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exceptions and schedules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0311F-A550-4E8D-B5CF-F32099B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908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approval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2B8A3-B78D-45F4-8BCB-E18D7A9E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908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and margin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00D86-6FC1-4B5F-8AE9-6CE34B9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908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Delegated authority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F83AA-16B9-469D-BD44-815F372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B8235-9067-45A6-81F9-6DE00EE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194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E2903-C5CC-49A8-9A5B-DED054A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4194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Terms, clauses and obligations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3CC0C-6D1C-4D53-BBED-9B779BD5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194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83AFB-3A43-46C9-95CF-A0C76AF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194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content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82698-FF93-4E4C-A109-44CAE81F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1947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Clause and amendment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0C4F1E-C07A-4E99-A629-A76CB47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9063D-7F42-4516-948C-7007F1B9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4812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8F54BD-64F6-48BA-994C-0FB8C49A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04812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 policy and actuals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70EFF-7A8E-4C07-B891-64E886AB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481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Financial approval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D5E540-3383-4681-B553-1413B89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481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44A40-ED34-4860-9811-CFB91C2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0481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Formula and reconciliation 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AF6C8C-6B0A-4F49-A80C-03E39817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50298E-E63C-44E1-9B9C-E62E49AC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767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9D9B3B-D6BA-49E7-BED3-F9328D75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6767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 and integration remediation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CEB655-416E-4928-9441-8CC8CF8E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767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27BCF-CAD6-4F05-A456-597A073F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767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Payload and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B47FD-BE18-4F93-8E62-C34876AE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67677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Replay and support audit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8AA53E-69C0-45CC-81DC-852289F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663BBA-5247-434E-AE6B-4ED7624B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0542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965FCE-6FB4-4A4D-B8C7-93D6E72D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0542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Configuration 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3CECAA-2820-4F07-A478-9BDD6209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054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business approval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C270B0-37ED-4FC2-B94C-DA883BD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3054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Restricted support access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192888-4A88-4945-B5CC-14BC88F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305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Separation of duties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23C5F2-1692-4D46-AF0A-0C5B4F45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Required evidence: permission matrix • sharing model • field classification • access tests • audit retention • privileged-access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3B7AA9-1AB3-483F-9C66-AB6A87DA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1089171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58F1A9-25D1-45F3-8C34-35ABCE85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C634C-B120-4A40-9220-5E1D0818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controlled promotion path keeps configuration, code and data synchronized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C64AC-D8E5-4F9F-90F9-AF78778E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0E3A5-F3B9-43BE-A63C-F3BF5DD5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9FDCA-3451-4409-855D-B0A76A5F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B77C6-2C96-4855-9E11-0BB397E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and unit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23657-08C4-4C18-BD66-F67EE384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24288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E522D-63E8-4BAA-8256-D87483A5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0002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736D0-1199-404B-917D-71A2EC0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1526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24F16-66E1-4128-A2FF-D871762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4765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Contract and end-to-end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56E72-5E4E-41EA-BEE2-4065B9F6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885" y="24288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D704F-9F3B-4397-ACE0-06EBA7E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002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EB51D-687E-47A5-9B4E-49F3AC93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1526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8B13B-BAAA-47AA-98BA-B3E0BEE9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4765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Business acceptance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BEA28-6119-446D-96E2-33DE0A73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24288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B03E1-7AB7-4A48-B175-A4F2686C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0002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DD725-4127-4930-89DD-DF5701D5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1526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0E161-59C5-48F1-AB08-48AF72C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4765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Dress rehearsal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87444-06B9-4AF2-8D01-D2CD1D5B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845" y="24288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BFAD0-36EA-467F-A14E-D4BF468F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20002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F5BAA-C882-4F74-BCDE-2021EB8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1526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1D4BF-B043-4DE6-A14A-3D27A8CB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4765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Controlled activation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4D9D7-20A6-4938-963B-79F6F3A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Metadata and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1A30A-B4C9-4F75-8581-5066172B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Version control • peer review • automated validation • deployment manifest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400050" y="4010025"/>
            <a:ext cx="11239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FA074-37D1-4D33-B032-2EA68CD0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26277-0C18-413C-9520-E1FA7DF6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Rule version • approval • effective date • environment comparison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4562475"/>
            <a:ext cx="11239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D6CD4F-9485-45D6-A0E0-E6A6D447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688CF-88E5-40A2-9C76-681616FB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Reference seed • migration package • reconciliation • archive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400050" y="5114925"/>
            <a:ext cx="11239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7BE43-EBAA-4F11-9026-AC460C90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Release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E8179-FC16-4524-B054-8EAA283F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Test results • approvals • runbook • rollback package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400050" y="5667375"/>
            <a:ext cx="11239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98CA8-2A67-4285-9259-FFCB126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8324439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39DC1-AAFD-4936-BBDA-68B80057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883C5-0953-49DB-9D15-690B08B0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Testing proves business outcomes, not only technical execution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40F52-0FC3-48B5-A07E-1EBF63C1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20748-A938-447C-B7AA-815D9708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145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TEST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A1B82-FD8B-4809-8D76-0DE3F6A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145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A6556-8716-4FA5-BB4B-E79AB578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7145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PASS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7CBE8-F7A1-49B4-AB29-56302C12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145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98A31-F42F-4538-AE9D-A7A325E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41206-EA14-402F-9A10-446E6ED6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4312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CAB8E-F2AC-4207-B1FC-61E227A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143125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Rules, calculations, services and failure branches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95C4C-8F7E-4261-8151-018C9D32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43125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Automated assertions and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E24E1-A863-487D-A1CD-3303AC8D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431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4F45D-E0E4-4244-928F-925890E2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07E3F-90CD-4824-8FAE-604C6AB5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2415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607E2-32D0-4535-A0B3-B2DD8CE7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7241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API/event schemas and backward compatibility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37233-87D1-4F01-88C7-BD3CD00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24150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Provider/consumer contract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1EE47-A48B-4FB9-A3D9-C461B213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2415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CFF8E-13BB-45FA-B989-763A59B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FCC07-2DFB-4BB1-988F-F52DA18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0517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E3FB0-AE26-4A27-9BB1-3FEC436D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305175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778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through contract, order and finance acknowledgement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AA00F-D831-4427-9E4E-4FEFA25E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305175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Traceable end-to-end scenarios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89769-1BF6-4D75-8DDB-10CC5A57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517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QA lead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0BDD5-6354-4CAF-9E9A-FBE5369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CDEF1-A2C7-4254-A5BE-58195D28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99D46-BB33-4468-98AD-2E284AB7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8620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Counts, relationships, quality and financial controls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A6B70-C384-4944-BC9D-FB482F51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86200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Signed reconciliation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F9175-BCF4-4341-977C-F59CB6E0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8620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lead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1E02C-C3DF-407C-A410-32776718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7EF82-3C9F-4B49-B8AC-A3E69756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6722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28DF0-5879-4937-A969-1617EB2E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467225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Persona journeys and business exceptions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682AEC-FFD5-4239-ABCD-F62EED69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67225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acceptance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9AD69E-2CFD-4559-99BD-C075DF90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672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 owners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26C26-3FA3-4C90-B2ED-CF70ECC0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24DE7C-92FE-4ED3-8554-C54B0C7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4825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NFR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44131E-D7F1-4757-9585-B77EF86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482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81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Performance, scale, security, recovery and observability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4BF432-FB34-4893-AEAF-B5D8130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048250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Threshold results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2CE126-68EA-4028-AF17-3EAD67CF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4825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 / security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C3C1D8-426D-4B78-B79D-61591AE6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2AF12C-2A4E-48C2-AA99-78522089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2927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523DD5-DA69-4DD6-90B1-EC164AD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629275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Protected commercial and contract capabilities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FA59B6-FCDA-4028-9341-B3CABCB7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629275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Automated release suite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E8A0E0-CC36-4AB8-8B8C-92E74D9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2927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Release manager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B02047-481F-4DA5-AFB4-5E1CC09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8516908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60CC14-CEA1-4940-A0B6-C170187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68987-19F8-49B2-9885-BE7ABF9A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Non-functional requirements define whether the solution can operate safely at production scale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B80AD-B3D4-432F-B91F-AC8444A5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5D0FE-BA1A-4C22-BFCF-F3F027F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145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QUALITY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13DAE-0E4D-4B56-830F-86564401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TARGET TO CONFIRM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B2DC4-2743-4E24-BE09-628EA333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EVIDENCE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65F61-E090-4B52-B12A-5A2458CC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37BCE-5126-41E0-9452-2431003F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431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02368-7AA8-400D-ABCC-743CEBEA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43125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Interactive response and batch completion thresholds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1E892-3C2D-4AEE-B2F8-56A9D300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43125"/>
            <a:ext cx="411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 and volume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45D47-E64E-4D18-B3D6-5E79137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0BE24-0002-46EE-B4E2-7CD502D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241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B2D41-854F-43BA-BA28-D836111E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24150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Business-hours and critical-path service 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E757C-CCC5-422C-ACC6-38E121E9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411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Monitoring and incident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A50DB-61FF-4276-BA85-D4C06C4B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92048-0865-4BAD-9F4A-340CFE31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051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Recoverability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996CE-4F56-4147-96FD-2E02D2E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05175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RTO, RPO, backup and restore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7C2AA-8A3B-4A14-A014-0E71BBBF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05175"/>
            <a:ext cx="411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Recovery exercise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84BC1-CB3E-486E-9CC7-57CADD7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BF7DD-AB24-4391-A485-C8F89190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11C53-CCEE-4EDF-8879-12297C22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886200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lines, rules, attributes, events and migration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81B18-B681-4CFF-8E79-7AF699E7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6200"/>
            <a:ext cx="411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Peak-volume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88A24-72A7-4A16-9427-E7B41658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64649-C8CC-4549-BB82-DB7449C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672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8150F-0A1C-4B66-9516-143D79F4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67225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Authentication, authorization, encryption and vulnerability limits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7A436-1716-4C91-B0C7-E4952F44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467225"/>
            <a:ext cx="411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assessment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D0F81-8B5D-493E-94B4-97972FD0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8C696-E06D-4CEC-8DC2-10A702F3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482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CD105-3624-4BDA-A42A-41A49F65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48250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Logs, metrics, traces, alerts and business reconciliation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096E90-4BB4-4071-A427-57C6B68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048250"/>
            <a:ext cx="411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 dashboard and alert drill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BE3942-D2CA-4C54-8DC2-F1AC302F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F0B32-1F18-4B54-83D4-98FBBC83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292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Maintainability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18FB2D-65B1-421F-A014-415F9D54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629275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Configuration ownership, deployment frequency and rollback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425D6E-195F-4759-B181-431B3E2D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629275"/>
            <a:ext cx="411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Release rehearsal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B068A5-67D9-4B98-9E20-87D1583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4373069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6DD4B-7AD6-4069-A870-1ACEF01E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16723-A44B-498B-9866-7C925B3B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cutover runbook controls the point of no return and preserves rollback options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10E4F-8F94-4A1B-9B0F-CA23F144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84699-0E93-4B9C-AAED-2DBA8281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837C0-513E-4893-8C8F-050D9F9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DF0D9-D6B3-40D2-876D-D73E514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Approvals and backups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21811-F18A-4058-A4B1-C7619A6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0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F7483-3DA6-4E77-B70C-EB893AA3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34E21-6331-439E-863A-EBF21A9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4DD7C-B164-4C02-836B-03E77F12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Stop controlled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19C12-2757-4388-81E5-F7DFEAA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88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8869E-0D6C-4E44-9DF2-EC541A0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28C93-38E8-4491-B22D-5411AFC5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62624-748F-44AD-8D4B-9B40E70A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Metadata and configuration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71FD6-4768-47B4-BA3D-CD09511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091B7-4FE8-424F-8157-6D6D059E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C04BC-D75A-4226-9B9F-2BBAA709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AF7FB-407A-457A-A676-3D95C51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Final data and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A6640-FCFB-48B7-AC01-E60FF361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845" y="23526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8ABFD-81BF-4E67-83E5-796352A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1924050"/>
            <a:ext cx="19354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49FBD-8C4C-4960-BC98-83D9150B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076450"/>
            <a:ext cx="170688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49767-1AF4-4697-A134-FCAAC2C7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400300"/>
            <a:ext cx="170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Users and integrations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A6DBA-3694-4FEB-98D9-BF2234DF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 CHECKPOINT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5DE11-9AA3-451B-AE6C-6666B928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Proceed only when technical and business control totals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0055A-4082-4EA2-A7B7-19F4C00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ROLLBACK 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E650E-AB00-47CC-B9EF-DDC0E54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Critical data variance, security defect, failed integration or unacceptable performance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8E4063-0C62-4ED7-B28F-999D3AB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ROLLBACK PACKAGE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E8E63-39D3-4BC7-BA96-13967688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Previous metadata, configuration snapshot, data restore steps and communication 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AF897-1E74-4B6D-AC52-69572A4F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COMMAND CENTER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1EA858-E08A-447C-AE1A-E2EBFA9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Named decision authority, workstream leads, incident channel and status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57C395-E178-4334-BA85-52EF3152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0596496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FCE878-087E-4BD9-99ED-56F2ED00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82863-802A-4CE6-90AE-2C698DAA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Go-live is approved only when eight evidence gates are green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C4466-7658-47CD-A821-85DBF08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E409C-AB83-4CA4-A466-FEA3CA4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F1500-E2C1-4865-ACFD-E9459ED5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09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96684-C0BB-4400-9B4C-C715A9D3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38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Requirements traced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297180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17CE-7C48-477F-90BF-8CE5E714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83FE-26F2-46D4-B6DB-1FA30085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2C07C-3C88-4645-856F-2E02F320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38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Physical model approved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3248025" y="297180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75E64-3B1E-45B4-8F8A-0303D01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DB631-DBF2-48EB-B24F-843E64CB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17C0C-A373-4EA6-BD9C-A7A0E59B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Code and config complete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6096000" y="297180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2636E-FEDD-4CC8-B442-F6A5580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F9DA7-C5B7-4854-BF04-3D5F1AC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09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49D57-7508-4216-8E17-2982D815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Reconciliation passed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8943975" y="297180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81B69-6D27-4CC1-9E1F-4381DC45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103AB-0EAA-4514-8083-0851AEF1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784FF-B1CF-47D5-92F1-E6A5ADB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SIT/UAT/NFR passed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478155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7EDEA-B6FE-47D4-8F24-CB27D687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195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CB3CD-A13D-4E25-ADE7-86FAA3FC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5FE2F-01DD-4D13-AF44-CF2B938A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Access and risks approved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3248025" y="478155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79CB6-370B-4156-AEDE-740E2B1D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DA617D-A772-4748-B83C-D7DE268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51BB43-375B-4691-B04E-8DC00389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Runbooks and monitoring ready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6096000" y="478155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EA1758-1F27-4344-AEF1-C6D1D5A9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195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3CDEF-4BC2-4B66-9A8A-05CE7BAD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Cutover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3D774E-9F36-4C56-9503-4DFA04B6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Rehearsal and rollback ready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8943975" y="4781550"/>
            <a:ext cx="2400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98DBEB-262B-4040-856D-0F0B635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6845FA-6592-4D9A-AE60-70D63B8C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Any red gate blocks production activation; exceptions require named risk acceptance, expiry and remediation owner.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2D2DE-45C9-4AC5-9FC9-3EFF8F9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95304566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867EDF-5BA2-415E-BC9E-2D13D32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8365F-46D0-4480-B2D9-CA96C32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Accountability is assigned by deliverable and approval—not by meeting attendance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72BE8-E0CF-451D-B84F-FC0D8564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F20F1-8EB3-4535-A6D4-C3BB7D2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145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DELIVERABLE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FA0E2-A3F5-4A53-AD17-DE9C8A2F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7145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7A394-10AD-405F-AEA2-C208FCBF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7145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86B92-15C8-44EA-9F0C-B0EF03C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714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61B28-0A61-4314-998D-34813457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145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FINAL SIGN-OFF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09C6C-2D92-4622-A00A-9631D17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B8201-6B19-49F9-92F9-203D8DD6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4312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Physical data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C3DA1-6032-4352-BBFD-5A0BA5F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4312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Enterprise architect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20356-C14A-4B65-8896-2905B1B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4312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CRM / data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9F8DB-75DD-4689-B421-DF801C47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143125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owners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17793-3406-4FAC-8724-74F222C4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431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2B731-8FC5-4944-8FFF-E88C0136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5AB7F-7DFE-4724-8712-9E98DB99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241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and approvals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4D1A5-DDBB-4699-88A7-89F26F78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24150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405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process 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8EE83-A5A3-4812-9B42-F05A5E9D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241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/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F1DDD-A03F-45D3-BB97-8FB3A716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72415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Finance, legal, deal desk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79B91-3E2C-4C5A-B986-96DD292C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2415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owner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4D3F0-43C8-419F-84F6-FECBC7FD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4CA17-2235-4798-8849-FF1634CA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0517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lifecycle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FFF49-B10D-4299-BD63-72D7521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0517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CC766-B0EA-41F7-89ED-A2C9CDA6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30517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CLM / engineering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EE827-99E8-4A19-8A0B-0452B920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05175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 and finance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6DF31-895D-496E-8E0F-EFFB444F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517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8773C-A53D-49EE-BC9F-AF4DBBA2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DD6715-EABE-4181-B201-23FD1FD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7BD26-5870-4252-B8C8-E35F4BD6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86200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owner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32CA5D-B3C0-4A3F-A5FD-A53AC3B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862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team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F8133-57C6-45FA-B102-0581F2D7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8620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System owners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868F7-B937-498E-9FCD-472D6859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8620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 +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34E1BA-4DB1-4822-9252-132093EE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FC9579-B5B3-4A67-8164-208F074C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6722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3A6950-36F8-47AC-9922-C1135C92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46722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owner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A621E-FF06-4629-BBE9-9577CE00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46722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 team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58504D-380A-44CA-B89D-50848477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467225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stewards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936AAA-89FC-4171-A923-5DADDC44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672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owner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0C5588-464B-4FD3-BBEB-E318DF2F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2D9FA2-4E1A-49A2-8372-15BE32F5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482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 and UAT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87B89F-0C2A-44B2-A15E-61194A7F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48250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Program sponsor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692458-7E71-40BC-BBC3-284E62DA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482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QA lead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BA1DDF-0474-4BB0-BDFA-90D9C7E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04825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workstreams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72465B-3C21-42B6-AD99-9ED0D83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48250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process owners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907122-5554-4716-BB57-F1B35E74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87C156-13E2-4972-95A8-B073E0E2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2927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Cutover and go-live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1E69FE-C794-4DF7-888D-FA95F997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62927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Executive sponsor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2B48E8-B2FE-4CC7-AFA3-72F38149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62927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Release manager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4D8B5D-AA53-4A8D-B8B3-AC8A679E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629275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Security, operations, vendors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FB3F49-2B16-4C56-A648-6B270AE0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2927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Go-live authority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D0C9DA-4257-4571-94B2-665BEED3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51670033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234FB-FE66-4CDE-8592-D85F4894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25799-7467-4470-8422-D7A9A26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12-month plan delivers foundations early and delays production risk until evidence is complete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D7C69-1DCE-4CC5-8745-76B963E3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0E742-1A1D-4F76-AF41-96B3E8BF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D623D-C6C4-46B0-A580-64947CDB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DISCOVER +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0B50B-2D86-49F4-9934-D06F78C9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Process, physical model, vendor boundaries, NFRs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34099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2FC52-C141-4622-98EB-9670C2C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M3–5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CE3E2-FA8D-487E-B6A4-6C82CE9A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52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B5259-852F-4580-B442-5A3D2E97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Customer/product, integration base, pricing and metric engine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191000" y="34099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593FD-FD4B-4856-9D7E-35D43EE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M5–7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25907-71B0-4DF3-94B1-DFB22C2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JOURNEYS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FE3FA-BC42-4B64-AB6C-8ED2BB3F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Approvals, documents, contracts, migration tooling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7981950" y="34099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91C36-F51D-4A6A-9529-1AD4A02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M7–9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B48B6-9F07-4063-B057-70C10237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F38BD-EE6B-42D9-9B35-E925CBD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SIT, mock loads, security, performance and UAT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00050" y="53340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C8226-D076-46A5-9283-A616D045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76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M9–10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F8FD3-E9AF-4BD9-9648-668B3468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76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5C9A9-60C0-46A9-A1CF-C8307AB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148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Controlled segment, monitoring and reconciliation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191000" y="53340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C4FCB-0635-499A-9374-9F2D6AFB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M10–12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9CA8D-6298-4534-9832-6C3EAECF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+ CONSOLIDATE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4E8B5-C87C-483A-A922-72D6EB7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148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Remaining waves, hypercare and optimization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7981950" y="53340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96D8F-59A5-4488-9D5D-B993BE73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DEBC7-F503-4987-9308-1D71DE29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precedes broad consolidation; scale begins only after metric stability, acknowledged handoffs and support readiness are proven.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1A439-D448-40EF-B8D0-E9A9E284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24168263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7C7988-30C1-4EDF-9862-64E11B7D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A39B5-ED91-4485-9B42-E69C05D3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highest delivery risks are controlled through explicit evidence and decision ownership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E077A-573D-4462-9518-B75A624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BD6ED-7509-4E99-B2BC-9A307020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33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8A3C8-12F3-4BF5-8599-E444A70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7335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EARLY WARNING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A0542-4259-49A3-AF87-5E57B406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335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CONTROL /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40EBD-1768-41EF-8F94-788D4A50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335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6D36F-E1E2-48F9-A575-B1AE04E3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3C9DD-1517-4D90-B127-B063D133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62175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Unclear source of truth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62301-4291-4D37-B53D-A7C234D8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62175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Conflicting customer, product or metric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0BFE7-12A6-4E1F-A54C-03669B81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162175"/>
            <a:ext cx="4152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 ownership and reconciliation before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C0CE9-DCD5-4DCC-90FA-E8E0E16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162175"/>
            <a:ext cx="1828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4D6D8-DF52-4444-814F-7C442840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A6868-4FAA-4C59-9A23-19FD507A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00350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 explosion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ACFF2-A5F7-4186-8629-721A1F4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8003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Unbounded pricing or approval combinations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32E70-5269-4D26-9750-EDB240BC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00350"/>
            <a:ext cx="4152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 catalog, precedence and scenario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A718B-FEF6-4537-BF46-7F0638E9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800350"/>
            <a:ext cx="1828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F8666-2D1F-4186-977B-218E6979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25BB0-F0F0-4CAA-AFA2-950A2915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38525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fragility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B5CE2-F1D7-4DA4-A6F7-DEE528D9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38525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Retries create duplicates or lost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48E1A-5C50-4147-97D6-B7A151C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38525"/>
            <a:ext cx="4152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Idempotency, dead-letter and control totals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E4702-643D-43BA-99C8-13ED870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438525"/>
            <a:ext cx="1828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FA42A-11EE-478D-8C86-2B524607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552D5-5409-46E6-9C65-DED99B82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76700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3FA07-7649-4744-A749-F967F8AB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0767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Unmatched keys and broken relationships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F605D-4C4D-4D00-9239-BC4608B1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076700"/>
            <a:ext cx="4152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Profiling, cleansing and repeated mock loads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CB8B2-630A-4720-ACAC-3E8CB805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076700"/>
            <a:ext cx="1828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 lead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175DF-86D4-4B77-8527-8F675946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BF6BF-EB71-44E1-8E33-7CBF82B4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14875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 business acceptance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A11E2E-3098-4B78-9FE5-F26062BB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14875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UAT discovers process gaps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A8210-14AE-4898-A18A-01ACB0EC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14875"/>
            <a:ext cx="4152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Journey sign-off and early pilot scenarios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6C6119-CAF5-497C-A9AA-8B131DDF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714875"/>
            <a:ext cx="1828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 owners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430D9-BF97-4EB2-8E94-E0EE500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310341-0F48-404C-90DC-AE77A30E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53050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unreadiness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844C5-742B-4D42-93E2-CD04F616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530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clear alert or remediation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63AF04-31AE-4E92-949F-DEE8488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353050"/>
            <a:ext cx="4152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 drill, runbooks and hypercare staffing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B57B32-506B-4A99-BDBC-9E0551E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353050"/>
            <a:ext cx="1828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 lead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D2EE52-1C06-4C30-8D1B-AE140FD5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54627030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5489E-6737-4FDA-89BB-561175F3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+ GO-LIVE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126E7-E859-41B1-BB7C-7C3EDAE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next decision is to authorize detailed design—not production deployment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485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11364-11EC-407B-BE41-DDAD5F32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5333F-443E-4964-BDE6-B6F570E1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First 30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69DD1-9254-4FB7-A731-A8A80E06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accountable owners and decision forum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Approve physical design and traceability templates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Baseline volumes, quality, integrations and NFRs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Select pilot journeys and acceptance scenarios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Produce cost, capacity and 12-month delivery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F2242-D17F-4B82-9F9E-92E2C90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Approval requested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599A0-4E35-4325-B4F9-BF96E620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FAA98-681F-4257-8B66-C8BFD919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scope and pilot 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1D0C-9142-45DC-A425-F7D24404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E1849-D892-42CB-873F-0CC8C2AE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and contract platform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B3CFC-EAFD-47F8-A896-2C2FED92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42E72-4A95-4B98-9B88-B2E66561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ownership and migration authorities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01A4B-B75A-4E11-8420-14C3D9F1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8789D-5149-4585-A775-9D63AF1F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243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Go-live gate owners and risk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E31FF-EF77-4FA6-8FB8-DDB2F3FB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A4BAE-92CE-4CA2-A74C-450DE7EE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736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Expected result: a build-ready backlog, approved physical design, executable test strategy and controlled pilot go-live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3BE51-85AA-4350-AB4A-F4A16197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Build-ready design • production readiness • controlled go-live</a:t>
            </a:r>
          </a:p>
        </p:txBody>
      </p:sp>
    </p:spTree>
    <p:extLst>
      <p:ext uri="{BB962C8B-B14F-4D97-AF65-F5344CB8AC3E}">
        <p14:creationId xmlns:p14="http://schemas.microsoft.com/office/powerpoint/2010/main" val="1412998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2026-08-21T22:27:14.6090000Z</dcterms:created>
  <dcterms:modified xsi:type="dcterms:W3CDTF">2026-08-21T22:27:14.6090000Z</dcterms:modified>
</coreProperties>
</file>
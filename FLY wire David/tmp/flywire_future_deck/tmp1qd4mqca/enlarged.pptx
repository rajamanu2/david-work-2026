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5fcb048376c54f37" Type="http://schemas.openxmlformats.org/package/2006/relationships/metadata/core-properties" Target="docProps/core.xml"/><Relationship Id="Rbceb7ccf40f14a99" Type="http://schemas.openxmlformats.org/officeDocument/2006/relationships/officeDocument" Target="ppt/presentation.xml"/><Relationship Id="Rddbca7d97504485c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8ac84be9034e9c"/>
  </p:sldMasterIdLst>
  <p:notesMasterIdLst>
    <p:notesMasterId xmlns:r="http://schemas.openxmlformats.org/officeDocument/2006/relationships" r:id="R2e618829d77041a1"/>
  </p:notesMasterIdLst>
  <p:sldIdLst>
    <p:sldId xmlns:r="http://schemas.openxmlformats.org/officeDocument/2006/relationships" id="256" r:id="R81b9776666704765"/>
    <p:sldId xmlns:r="http://schemas.openxmlformats.org/officeDocument/2006/relationships" id="257" r:id="R6de7974748354302"/>
    <p:sldId xmlns:r="http://schemas.openxmlformats.org/officeDocument/2006/relationships" id="258" r:id="Rab27b4620c164711"/>
    <p:sldId xmlns:r="http://schemas.openxmlformats.org/officeDocument/2006/relationships" id="259" r:id="R53cba465b81d4eda"/>
    <p:sldId xmlns:r="http://schemas.openxmlformats.org/officeDocument/2006/relationships" id="260" r:id="Rf5edea5bacd34f82"/>
    <p:sldId xmlns:r="http://schemas.openxmlformats.org/officeDocument/2006/relationships" id="261" r:id="Ra23ce690829946cf"/>
    <p:sldId xmlns:r="http://schemas.openxmlformats.org/officeDocument/2006/relationships" id="262" r:id="R0c0802c314444f9d"/>
    <p:sldId xmlns:r="http://schemas.openxmlformats.org/officeDocument/2006/relationships" id="263" r:id="R76c29a78571e4e4d"/>
    <p:sldId xmlns:r="http://schemas.openxmlformats.org/officeDocument/2006/relationships" id="264" r:id="Rb73cb720e4f8499d"/>
    <p:sldId xmlns:r="http://schemas.openxmlformats.org/officeDocument/2006/relationships" id="265" r:id="R058dadf45ee14cd7"/>
    <p:sldId xmlns:r="http://schemas.openxmlformats.org/officeDocument/2006/relationships" id="266" r:id="Rd78b0dfb18634c13"/>
    <p:sldId xmlns:r="http://schemas.openxmlformats.org/officeDocument/2006/relationships" id="267" r:id="Rd2356521e784476f"/>
    <p:sldId xmlns:r="http://schemas.openxmlformats.org/officeDocument/2006/relationships" id="268" r:id="Rdffe1558b85a43be"/>
    <p:sldId xmlns:r="http://schemas.openxmlformats.org/officeDocument/2006/relationships" id="269" r:id="R5d65bda0c9d0479e"/>
    <p:sldId xmlns:r="http://schemas.openxmlformats.org/officeDocument/2006/relationships" id="270" r:id="Rd141ffd75a374b3e"/>
    <p:sldId xmlns:r="http://schemas.openxmlformats.org/officeDocument/2006/relationships" id="271" r:id="R6c76a981eacc4718"/>
    <p:sldId xmlns:r="http://schemas.openxmlformats.org/officeDocument/2006/relationships" id="272" r:id="R0e31274029a643b2"/>
    <p:sldId xmlns:r="http://schemas.openxmlformats.org/officeDocument/2006/relationships" id="273" r:id="R70940f4585cc413e"/>
    <p:sldId xmlns:r="http://schemas.openxmlformats.org/officeDocument/2006/relationships" id="274" r:id="Rb45ed31427dc4a31"/>
    <p:sldId xmlns:r="http://schemas.openxmlformats.org/officeDocument/2006/relationships" id="275" r:id="R0cbce93ad6ce4057"/>
    <p:sldId xmlns:r="http://schemas.openxmlformats.org/officeDocument/2006/relationships" id="276" r:id="R491ac64e4bcd484b"/>
    <p:sldId xmlns:r="http://schemas.openxmlformats.org/officeDocument/2006/relationships" id="277" r:id="R13d52e7d628b42c0"/>
  </p:sldIdLst>
  <p:sldSz cx="13716000" cy="8382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58dadf45ee14cd7" Type="http://schemas.openxmlformats.org/officeDocument/2006/relationships/slide" Target="slides/slide10.xml"/><Relationship Id="R0c0802c314444f9d" Type="http://schemas.openxmlformats.org/officeDocument/2006/relationships/slide" Target="slides/slide7.xml"/><Relationship Id="R0cbce93ad6ce4057" Type="http://schemas.openxmlformats.org/officeDocument/2006/relationships/slide" Target="slides/slide20.xml"/><Relationship Id="R0e31274029a643b2" Type="http://schemas.openxmlformats.org/officeDocument/2006/relationships/slide" Target="slides/slide17.xml"/><Relationship Id="R13d52e7d628b42c0" Type="http://schemas.openxmlformats.org/officeDocument/2006/relationships/slide" Target="slides/slide22.xml"/><Relationship Id="R2e618829d77041a1" Type="http://schemas.openxmlformats.org/officeDocument/2006/relationships/notesMaster" Target="notesMasters/notesMaster1.xml"/><Relationship Id="R4614fbb3267e4375" Type="http://schemas.openxmlformats.org/officeDocument/2006/relationships/theme" Target="theme/theme1.xml"/><Relationship Id="R491ac64e4bcd484b" Type="http://schemas.openxmlformats.org/officeDocument/2006/relationships/slide" Target="slides/slide21.xml"/><Relationship Id="R53aa77773cdf4b0c" Type="http://schemas.openxmlformats.org/officeDocument/2006/relationships/tableStyles" Target="tableStyles.xml"/><Relationship Id="R53cba465b81d4eda" Type="http://schemas.openxmlformats.org/officeDocument/2006/relationships/slide" Target="slides/slide4.xml"/><Relationship Id="R5d65bda0c9d0479e" Type="http://schemas.openxmlformats.org/officeDocument/2006/relationships/slide" Target="slides/slide14.xml"/><Relationship Id="R6c76a981eacc4718" Type="http://schemas.openxmlformats.org/officeDocument/2006/relationships/slide" Target="slides/slide16.xml"/><Relationship Id="R6de7974748354302" Type="http://schemas.openxmlformats.org/officeDocument/2006/relationships/slide" Target="slides/slide2.xml"/><Relationship Id="R70940f4585cc413e" Type="http://schemas.openxmlformats.org/officeDocument/2006/relationships/slide" Target="slides/slide18.xml"/><Relationship Id="R76c29a78571e4e4d" Type="http://schemas.openxmlformats.org/officeDocument/2006/relationships/slide" Target="slides/slide8.xml"/><Relationship Id="R81b9776666704765" Type="http://schemas.openxmlformats.org/officeDocument/2006/relationships/slide" Target="slides/slide1.xml"/><Relationship Id="R958ac84be9034e9c" Type="http://schemas.openxmlformats.org/officeDocument/2006/relationships/slideMaster" Target="slideMasters/slideMaster1.xml"/><Relationship Id="Ra23ce690829946cf" Type="http://schemas.openxmlformats.org/officeDocument/2006/relationships/slide" Target="slides/slide6.xml"/><Relationship Id="Rab27b4620c164711" Type="http://schemas.openxmlformats.org/officeDocument/2006/relationships/slide" Target="slides/slide3.xml"/><Relationship Id="Rb45ed31427dc4a31" Type="http://schemas.openxmlformats.org/officeDocument/2006/relationships/slide" Target="slides/slide19.xml"/><Relationship Id="Rb73cb720e4f8499d" Type="http://schemas.openxmlformats.org/officeDocument/2006/relationships/slide" Target="slides/slide9.xml"/><Relationship Id="Rb8de5eb02242449c" Type="http://schemas.openxmlformats.org/officeDocument/2006/relationships/presProps" Target="presProps.xml"/><Relationship Id="Rd141ffd75a374b3e" Type="http://schemas.openxmlformats.org/officeDocument/2006/relationships/slide" Target="slides/slide15.xml"/><Relationship Id="Rd2356521e784476f" Type="http://schemas.openxmlformats.org/officeDocument/2006/relationships/slide" Target="slides/slide12.xml"/><Relationship Id="Rd78b0dfb18634c13" Type="http://schemas.openxmlformats.org/officeDocument/2006/relationships/slide" Target="slides/slide11.xml"/><Relationship Id="Rdffe1558b85a43be" Type="http://schemas.openxmlformats.org/officeDocument/2006/relationships/slide" Target="slides/slide13.xml"/><Relationship Id="Rf5edea5bacd34f8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a566f7be43a34fe2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0548876bf42d4dbf" Type="http://schemas.openxmlformats.org/officeDocument/2006/relationships/slide" Target="../slides/slide1.xml"/><Relationship Id="R35447a20efae484a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4c261d85d2074ee7" Type="http://schemas.openxmlformats.org/officeDocument/2006/relationships/notesMaster" Target="../notesMasters/notesMaster1.xml"/><Relationship Id="R82eb5d5c55eb4d20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4d9f563dda594a83" Type="http://schemas.openxmlformats.org/officeDocument/2006/relationships/slide" Target="../slides/slide3.xml"/><Relationship Id="Rb631297f344d4d9b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1d0bb332277f4bf2" Type="http://schemas.openxmlformats.org/officeDocument/2006/relationships/slide" Target="../slides/slide4.xml"/><Relationship Id="Ra6fa26a83b4e421f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34777a2cf3c049b2" Type="http://schemas.openxmlformats.org/officeDocument/2006/relationships/slide" Target="../slides/slide5.xml"/><Relationship Id="Ra95a9ce79f6548b0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23ed4eaa87c44f35" Type="http://schemas.openxmlformats.org/officeDocument/2006/relationships/slide" Target="../slides/slide6.xml"/><Relationship Id="Ra57222a299304706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385773e5d5854a60" Type="http://schemas.openxmlformats.org/officeDocument/2006/relationships/notesMaster" Target="../notesMasters/notesMaster1.xml"/><Relationship Id="Rebf44a8984ba4e47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5fe252d394c44ba4" Type="http://schemas.openxmlformats.org/officeDocument/2006/relationships/notesMaster" Target="../notesMasters/notesMaster1.xml"/><Relationship Id="Rf10a96499b82487a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4cef9004d8a34d8b" Type="http://schemas.openxmlformats.org/officeDocument/2006/relationships/notesMaster" Target="../notesMasters/notesMaster1.xml"/><Relationship Id="R881943ab16f049db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2f4f60b2a4104726" Type="http://schemas.openxmlformats.org/officeDocument/2006/relationships/notesMaster" Target="../notesMasters/notesMaster1.xml"/><Relationship Id="R65f5c20613a549eb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645dddfabc9c4f87" Type="http://schemas.openxmlformats.org/officeDocument/2006/relationships/notesMaster" Target="../notesMasters/notesMaster1.xml"/><Relationship Id="R98c2d33884a642c0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5ae5bd6bb00d44c0" Type="http://schemas.openxmlformats.org/officeDocument/2006/relationships/notesMaster" Target="../notesMasters/notesMaster1.xml"/><Relationship Id="R72a9975c49b74b7f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17955955fa104e2a" Type="http://schemas.openxmlformats.org/officeDocument/2006/relationships/slide" Target="../slides/slide13.xml"/><Relationship Id="Rea797e1afdc140ff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9160f2aa47aa4e5f" Type="http://schemas.openxmlformats.org/officeDocument/2006/relationships/notesMaster" Target="../notesMasters/notesMaster1.xml"/><Relationship Id="Rec6f2251184e43dc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05d98130ef9f4dde" Type="http://schemas.openxmlformats.org/officeDocument/2006/relationships/notesMaster" Target="../notesMasters/notesMaster1.xml"/><Relationship Id="R8e948a942913476c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6848121ad1a549c8" Type="http://schemas.openxmlformats.org/officeDocument/2006/relationships/slide" Target="../slides/slide16.xml"/><Relationship Id="Raf6354a9ef204c83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9ebd20eabc3f4d33" Type="http://schemas.openxmlformats.org/officeDocument/2006/relationships/notesMaster" Target="../notesMasters/notesMaster1.xml"/><Relationship Id="Re3f7f46ca94a4f40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beba2d32baf04379" Type="http://schemas.openxmlformats.org/officeDocument/2006/relationships/notesMaster" Target="../notesMasters/notesMaster1.xml"/><Relationship Id="Ref8c5c75cf5747dd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516b363decce4b24" Type="http://schemas.openxmlformats.org/officeDocument/2006/relationships/notesMaster" Target="../notesMasters/notesMaster1.xml"/><Relationship Id="Rce5029e9610b4f31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9232e13acf48469e" Type="http://schemas.openxmlformats.org/officeDocument/2006/relationships/slide" Target="../slides/slide20.xml"/><Relationship Id="Rb56cd4b92c734569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63e8132140ce42e0" Type="http://schemas.openxmlformats.org/officeDocument/2006/relationships/slide" Target="../slides/slide21.xml"/><Relationship Id="Rb06dc29310134517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5f2ebd160aac45a3" Type="http://schemas.openxmlformats.org/officeDocument/2006/relationships/notesMaster" Target="../notesMasters/notesMaster1.xml"/><Relationship Id="R9737914cd49c4f87" Type="http://schemas.openxmlformats.org/officeDocument/2006/relationships/slide" Target="../slides/slide22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C:/Users/LIKKI/Downloads/Flywire Future State Vision_20260814 (1).pdf, pages 4-10</a:t>
            </a:r>
          </a:p>
          <a:p xmlns:a="http://schemas.openxmlformats.org/drawingml/2006/main">
            <a:r>
              <a:t>- C:/Users/LIKKI/Documents/ChatGPT/david/force-app/main/default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C:/Users/LIKKI/Downloads/Flywire Future State Vision_20260814 (1).pdf, pages 5-6 and 18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C:/Users/LIKKI/Downloads/Flywire Future State Vision_20260814 (1).pdf, pages 6-10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C:/Users/LIKKI/Downloads/Flywire Future State Vision_20260814 (1).pdf, pages 18 and 39-46</a:t>
            </a:r>
          </a:p>
          <a:p xmlns:a="http://schemas.openxmlformats.org/drawingml/2006/main">
            <a:r>
              <a:t>- C:/Users/LIKKI/Documents/ChatGPT/david/force-app/main/default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C:/Users/LIKKI/Downloads/Flywire Future State Vision_20260814 (1).pdf, pages 18, 48-49</a:t>
            </a:r>
          </a:p>
          <a:p xmlns:a="http://schemas.openxmlformats.org/drawingml/2006/main">
            <a:r>
              <a:t>- C:/Users/LIKKI/Documents/ChatGPT/david/tmp/flywire_future_deck/integration_architecture.puml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C:/Users/LIKKI/Downloads/Flywire Future State Vision_20260814 (1).pdf, pages 18, 23-31 and 39-46</a:t>
            </a:r>
          </a:p>
          <a:p xmlns:a="http://schemas.openxmlformats.org/drawingml/2006/main">
            <a:r>
              <a:t>- C:/Users/LIKKI/Documents/ChatGPT/david/tmp/flywire_future_deck/data_model_commercial.puml</a:t>
            </a:r>
          </a:p>
          <a:p xmlns:a="http://schemas.openxmlformats.org/drawingml/2006/main">
            <a:r>
              <a:t>- C:/Users/LIKKI/Documents/ChatGPT/david/tmp/flywire_future_deck/data_model_execution.puml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C:/Users/LIKKI/Downloads/Flywire Future State Vision_20260814 (1).pdf, pages 18 and 41-46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C:/Users/LIKKI/Downloads/Flywire Future State Vision_20260814 (1).pdf, pages 23-31</a:t>
            </a:r>
          </a:p>
          <a:p xmlns:a="http://schemas.openxmlformats.org/drawingml/2006/main">
            <a:r>
              <a:t>- C:/Users/LIKKI/Documents/ChatGPT/david/tmp/flywire_future_deck/data_flow.puml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C:/Users/LIKKI/Downloads/Flywire Future State Vision_20260814 (1).pdf, pages 23, 28-31</a:t>
            </a:r>
          </a:p>
          <a:p xmlns:a="http://schemas.openxmlformats.org/drawingml/2006/main">
            <a:r>
              <a:t>- C:/Users/LIKKI/Documents/ChatGPT/david/tmp/flywire_future_deck/state_model.puml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C:/Users/LIKKI/Downloads/Flywire Future State Vision_20260814 (1).pdf, pages 23-26</a:t>
            </a:r>
          </a:p>
          <a:p xmlns:a="http://schemas.openxmlformats.org/drawingml/2006/main">
            <a:r>
              <a:t>- C:/Users/LIKKI/Documents/ChatGPT/david/force-app/main/default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C:/Users/LIKKI/Downloads/Flywire Future State Vision_20260814 (1).pdf, pages 23-26</a:t>
            </a:r>
          </a:p>
          <a:p xmlns:a="http://schemas.openxmlformats.org/drawingml/2006/main">
            <a:r>
              <a:t>- C:/Users/LIKKI/Documents/ChatGPT/david/tmp/flywire_future_deck/approval_class_diagram.puml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C:/Users/LIKKI/Downloads/Flywire Future State Vision_20260814 (1).pdf, pages 23-26 and 43</a:t>
            </a:r>
          </a:p>
          <a:p xmlns:a="http://schemas.openxmlformats.org/drawingml/2006/main">
            <a:r>
              <a:t>- C:/Users/LIKKI/Documents/ChatGPT/david/force-app/main/default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C:/Users/LIKKI/Downloads/Flywire Future State Vision_20260814 (1).pdf, pages 23-26, 33 and 43</a:t>
            </a:r>
          </a:p>
          <a:p xmlns:a="http://schemas.openxmlformats.org/drawingml/2006/main">
            <a:r>
              <a:t>- C:/Users/LIKKI/Documents/ChatGPT/david/force-app/main/default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C:/Users/LIKKI/Downloads/Flywire Future State Vision_20260814 (1).pdf, pages 23-26</a:t>
            </a:r>
          </a:p>
          <a:p xmlns:a="http://schemas.openxmlformats.org/drawingml/2006/main">
            <a:r>
              <a:t>- C:/Users/LIKKI/Documents/ChatGPT/david/force-app/main/default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C:/Users/LIKKI/Downloads/Flywire Future State Vision_20260814 (1).pdf, pages 28-31 and 43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C:/Users/LIKKI/Downloads/Flywire Future State Vision_20260814 (1).pdf, pages 28-31 and 49</a:t>
            </a:r>
          </a:p>
          <a:p xmlns:a="http://schemas.openxmlformats.org/drawingml/2006/main">
            <a:r>
              <a:t>- C:/Users/LIKKI/Documents/ChatGPT/david/tmp/flywire_future_deck/execution_class_diagram.puml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C:/Users/LIKKI/Downloads/Flywire Future State Vision_20260814 (1).pdf, pages 18 and 48-49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C:/Users/LIKKI/Downloads/Flywire Future State Vision_20260814 (1).pdf, pages 18, 40 and 46</a:t>
            </a:r>
          </a:p>
          <a:p xmlns:a="http://schemas.openxmlformats.org/drawingml/2006/main">
            <a:r>
              <a:t>- C:/Users/LIKKI/Documents/ChatGPT/david/force-app/main/default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C:/Users/LIKKI/Downloads/Flywire Future State Vision_20260814 (1).pdf, pages 23-31 and 41-46</a:t>
            </a:r>
          </a:p>
          <a:p xmlns:a="http://schemas.openxmlformats.org/drawingml/2006/main">
            <a:r>
              <a:t>- C:/Users/LIKKI/Documents/ChatGPT/david/force-app/main/default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C:/Users/LIKKI/Downloads/Flywire Future State Vision_20260814 (1).pdf, pages 10, 21, 26 and 31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C:/Users/LIKKI/Downloads/Flywire Future State Vision_20260814 (1).pdf, pages 21, 26 and 31</a:t>
            </a:r>
          </a:p>
          <a:p xmlns:a="http://schemas.openxmlformats.org/drawingml/2006/main">
            <a:r>
              <a:t>- C:/Users/LIKKI/Documents/ChatGPT/david/force-app/main/default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C:/Users/LIKKI/Downloads/Flywire Future State Vision_20260814 (1).pdf, pages 10, 21, 26 and 31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22c0b6f166484620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d4f10ad94b24451e" Type="http://schemas.openxmlformats.org/officeDocument/2006/relationships/slideLayout" Target="../slideLayouts/slideLayout1.xml"/><Relationship Id="Rfa5235f4775046e8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f10ad94b24451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7840777582194cbc" Type="http://schemas.openxmlformats.org/officeDocument/2006/relationships/notesSlide" Target="../notesSlides/notesSlide1.xml"/><Relationship Id="Ra2ff79882a3046e9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26d7bea9179241b4" Type="http://schemas.openxmlformats.org/officeDocument/2006/relationships/slideLayout" Target="../slideLayouts/slideLayout1.xml"/><Relationship Id="Refa7a41e341e479c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753e9a1b5c344ec2" Type="http://schemas.openxmlformats.org/officeDocument/2006/relationships/slideLayout" Target="../slideLayouts/slideLayout1.xml"/><Relationship Id="Reabdda7b183f4620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1ae9ce8eb47c4311" Type="http://schemas.openxmlformats.org/officeDocument/2006/relationships/slideLayout" Target="../slideLayouts/slideLayout1.xml"/><Relationship Id="R8a4d4b4e0975439a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4282beb9907c4875" Type="http://schemas.openxmlformats.org/officeDocument/2006/relationships/image" Target="../media/image.png"/><Relationship Id="Rb0202df9ceb6428d" Type="http://schemas.openxmlformats.org/officeDocument/2006/relationships/slideLayout" Target="../slideLayouts/slideLayout1.xml"/><Relationship Id="Redeb5e532d6345b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b9ec0909b2e44009" Type="http://schemas.openxmlformats.org/officeDocument/2006/relationships/notesSlide" Target="../notesSlides/notesSlide6.xml"/><Relationship Id="Rbab8d9e8cb214594" Type="http://schemas.openxmlformats.org/officeDocument/2006/relationships/slideLayout" Target="../slideLayouts/slideLayout1.xml"/><Relationship Id="Rdc834f2e99274b5b" Type="http://schemas.openxmlformats.org/officeDocument/2006/relationships/image" Target="../media/image2.png"/><Relationship Id="Re9f5584000fa43ea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7ae5dde5540d4b20" Type="http://schemas.openxmlformats.org/officeDocument/2006/relationships/slideLayout" Target="../slideLayouts/slideLayout1.xml"/><Relationship Id="Rd1346a8931454301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1e90a45d2c274c3b" Type="http://schemas.openxmlformats.org/officeDocument/2006/relationships/notesSlide" Target="../notesSlides/notesSlide8.xml"/><Relationship Id="Rfd5dad3888f24a94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69b4d062789a40e9" Type="http://schemas.openxmlformats.org/officeDocument/2006/relationships/notesSlide" Target="../notesSlides/notesSlide9.xml"/><Relationship Id="Rf8031791b80f4bbe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0f4f8e11cf034b86" Type="http://schemas.openxmlformats.org/officeDocument/2006/relationships/slideLayout" Target="../slideLayouts/slideLayout1.xml"/><Relationship Id="R1b5bf2bed85443e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62052f41caa54800" Type="http://schemas.openxmlformats.org/officeDocument/2006/relationships/slideLayout" Target="../slideLayouts/slideLayout1.xml"/><Relationship Id="R800de4a0929c476d" Type="http://schemas.openxmlformats.org/officeDocument/2006/relationships/notesSlide" Target="../notesSlides/notesSlide11.xml"/><Relationship Id="Ra5e424a4cb0a4241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53bd37ca61714494" Type="http://schemas.openxmlformats.org/officeDocument/2006/relationships/slideLayout" Target="../slideLayouts/slideLayout1.xml"/><Relationship Id="Re6c8335be0d7432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2c0ec7e5b37c42e3" Type="http://schemas.openxmlformats.org/officeDocument/2006/relationships/notesSlide" Target="../notesSlides/notesSlide13.xml"/><Relationship Id="Rb6b36f8dc1284072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7c0cbd41b8f44750" Type="http://schemas.openxmlformats.org/officeDocument/2006/relationships/notesSlide" Target="../notesSlides/notesSlide14.xml"/><Relationship Id="Rf6e2befbf0e2403d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94fef000a8e842e2" Type="http://schemas.openxmlformats.org/officeDocument/2006/relationships/notesSlide" Target="../notesSlides/notesSlide15.xml"/><Relationship Id="Rc85284ffdcdf4a5b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298800822ab242a9" Type="http://schemas.openxmlformats.org/officeDocument/2006/relationships/slideLayout" Target="../slideLayouts/slideLayout1.xml"/><Relationship Id="R8b9fe14c4617400f" Type="http://schemas.openxmlformats.org/officeDocument/2006/relationships/notesSlide" Target="../notesSlides/notesSlide16.xml"/><Relationship Id="Re8b4e831fb1b4368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4f863d0dc9af4607" Type="http://schemas.openxmlformats.org/officeDocument/2006/relationships/slideLayout" Target="../slideLayouts/slideLayout1.xml"/><Relationship Id="R8186c6fd9fc14716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0298f24c58f04baf" Type="http://schemas.openxmlformats.org/officeDocument/2006/relationships/notesSlide" Target="../notesSlides/notesSlide18.xml"/><Relationship Id="Rd99c75ae5d264ed3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2cd501eaea4145fd" Type="http://schemas.openxmlformats.org/officeDocument/2006/relationships/notesSlide" Target="../notesSlides/notesSlide19.xml"/><Relationship Id="Rbe0e2740b7004e90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940c8f8fae484a39" Type="http://schemas.openxmlformats.org/officeDocument/2006/relationships/notesSlide" Target="../notesSlides/notesSlide20.xml"/><Relationship Id="R9488a12ea8b747d9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76bacd6f28594ed5" Type="http://schemas.openxmlformats.org/officeDocument/2006/relationships/slideLayout" Target="../slideLayouts/slideLayout1.xml"/><Relationship Id="Rb03979fa9265487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4974e688c3f7482c" Type="http://schemas.openxmlformats.org/officeDocument/2006/relationships/notesSlide" Target="../notesSlides/notesSlide22.xml"/><Relationship Id="Raaeb28da56fd4dbb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2" name="Rectangle 11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1" name="Rectangle 10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0" name="Rectangle 9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9" name="Rectangle 8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405FD0-9536-464A-AD14-BE685F7C4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123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FLYWIRE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BD82F7-D6F7-4493-B1B1-A7178EC82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38400"/>
            <a:ext cx="781050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Future-State</a:t>
            </a:r>
          </a:p>
          <a:p xmlns:a="http://schemas.openxmlformats.org/drawingml/2006/main">
            <a:pPr algn="l">
              <a:defRPr sz="4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Implementation Blueprint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DE5397-DDE5-4F0D-BAF3-C39140B8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57750"/>
            <a:ext cx="7429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Clean data model, governed data flow, service design, controls and delivery 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FDCF03-C1F5-4D1D-BC86-5782CF303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09800"/>
            <a:ext cx="238125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9D47AB-034D-4BEF-A7E1-5F38F575A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705100"/>
            <a:ext cx="1714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ONE</a:t>
            </a:r>
          </a:p>
          <a:p xmlns:a="http://schemas.openxmlformats.org/drawingml/2006/main"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61700C-D5D7-4703-A3C7-CE8E368A1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076700"/>
            <a:ext cx="1714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Customer</a:t>
            </a:r>
          </a:p>
          <a:p xmlns:a="http://schemas.openxmlformats.org/drawingml/2006/main"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Quote</a:t>
            </a:r>
          </a:p>
          <a:p xmlns:a="http://schemas.openxmlformats.org/drawingml/2006/main"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Contract</a:t>
            </a:r>
          </a:p>
          <a:p xmlns:a="http://schemas.openxmlformats.org/drawingml/2006/main"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Revenue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E336A4-FCAD-4301-8413-AFDF01039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9151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Team discussion deck • August 2026</a:t>
            </a:r>
          </a:p>
        </p:txBody>
      </p:sp>
    </p:spTree>
    <p:extLst>
      <p:ext uri="{BB962C8B-B14F-4D97-AF65-F5344CB8AC3E}">
        <p14:creationId xmlns:p14="http://schemas.microsoft.com/office/powerpoint/2010/main" val="6070235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38" name="Rectangle 37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7" name="Rectangle 36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6" name="Rectangle 35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5" name="Rectangle 34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DC494B-A1D7-40CC-A69E-6AB4C2F44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02870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IMPLEMENTATION BLUEPRINT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476D65-5112-46C2-B2F8-E0AE31E4D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314450"/>
            <a:ext cx="11315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544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 single operating model connects customer, quote, contract and revenue data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1162050" y="22479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85E5D9-DD49-465F-AD5E-1AFAA083A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7143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10BF55-B30F-4488-B8C9-2A469CBC1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3840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537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implementation is organized around one governed commercial record chain. Every downstream process consumes the same validated data instead of reconstructing meaning in each system.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EADDBE-EA73-44ED-BF85-E50CD82A2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67150"/>
            <a:ext cx="1524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2FFAA9-BF75-4BD8-AE39-F649F67F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9575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CUSTOMER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926903-BAC0-4C82-8DA6-6E23079CC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276725"/>
            <a:ext cx="3238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8EC909-EF55-4D21-A3DA-8F02ACD30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867150"/>
            <a:ext cx="1524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5BD36B-54FE-49D1-8480-CE01E40D3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09575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OPPORTUNITY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43ED89-65D9-4C17-9DA1-6FCC73D1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276725"/>
            <a:ext cx="3238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CCF672-9C73-4221-A30C-6E7EA840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867150"/>
            <a:ext cx="1524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E3AAA1-7EA9-468C-A759-01C07015D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09575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QUOTE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E589CE-6C6D-4367-93B6-70009A23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276725"/>
            <a:ext cx="3238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E9FBA6-AF44-42D6-A627-F2710B7E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67150"/>
            <a:ext cx="1524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FD40CC-04E8-4C8B-A8B6-A22E555BE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09575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CONTRACT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80C0B7-3703-499B-B2CC-D44D075B1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276725"/>
            <a:ext cx="3238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D19AE5-BD8B-4103-90FC-B5C70F60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867150"/>
            <a:ext cx="1524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5AB68C-9ABE-4320-991F-5D63819CD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09575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ORDER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D61B7A-5CCA-4E2D-A175-B7224862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276725"/>
            <a:ext cx="3238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17432E-75C7-45A5-95C4-B3E022180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867150"/>
            <a:ext cx="1524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8A6625-FA14-4BC1-BDAC-A9BD56FA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095750"/>
            <a:ext cx="1371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REVENUE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E6027C-B68F-4E42-9681-8886ABE86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6197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E67F0B-9398-4467-BB6D-C558A49B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19125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governed customer identity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095711-8D43-4708-B438-EFF05C9D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6197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9C3B1B-43D0-40E6-8DC6-704E03729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19125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quote-to-contract lifecycle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29B611-6F6B-4BF8-9AD7-F617B581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6197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2EFD2A-4C73-4207-8E7E-50006C42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19125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reconciled revenue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EB852E-A986-474F-A7C0-9BBF9B99C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6197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B36176-879D-468A-89CC-AA5141A38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19125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silent downstream handoffs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31A487-C737-42A4-BEAD-6A6054D0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71532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Flywire future-state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10564523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37" name="Rectangle 36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6" name="Rectangle 35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5" name="Rectangle 34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4" name="Rectangle 33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D47C25-E176-43BB-89CF-48E337B9F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02870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IMPLEMENTATION BLUEPRINT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30ADE1-25CC-47A0-AB10-3D0D4D92D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314450"/>
            <a:ext cx="11315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347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blueprint covers all three transformation initiatives in one design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1162050" y="22479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66E6EA-2334-4D48-9C78-A58452888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7143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F81CE2-53D6-4C28-B34C-F9771F0D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7175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0D476C-7AF7-4261-AE73-6E85041C8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432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UNIFIED FOUNDATION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1162050" y="3619500"/>
            <a:ext cx="33337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BC723E-1FBF-4F2B-B603-D8E1DF965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67150"/>
            <a:ext cx="33337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Golden customer and hierarchy</a:t>
            </a:r>
          </a:p>
          <a:p xmlns:a="http://schemas.openxmlformats.org/drawingml/2006/main"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One product and pricing model</a:t>
            </a:r>
          </a:p>
          <a:p xmlns:a="http://schemas.openxmlformats.org/drawingml/2006/main"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Governed integration events</a:t>
            </a:r>
          </a:p>
          <a:p xmlns:a="http://schemas.openxmlformats.org/drawingml/2006/main"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Single reporting definitions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4EA299-DE88-41BC-9716-7B012DF37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57175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116CC0-7936-4DC8-B5C6-0950EAEEE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1432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QUOTE TO CASH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5010150" y="3619500"/>
            <a:ext cx="33337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5A193F-7EAC-46C5-9C71-3D6FF91F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867150"/>
            <a:ext cx="33337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Guided configuration</a:t>
            </a:r>
          </a:p>
          <a:p xmlns:a="http://schemas.openxmlformats.org/drawingml/2006/main"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Tier, ramp and term pricing</a:t>
            </a:r>
          </a:p>
          <a:p xmlns:a="http://schemas.openxmlformats.org/drawingml/2006/main"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Risk-based approvals</a:t>
            </a:r>
          </a:p>
          <a:p xmlns:a="http://schemas.openxmlformats.org/drawingml/2006/main"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ARR, MRR and TCV</a:t>
            </a:r>
          </a:p>
          <a:p xmlns:a="http://schemas.openxmlformats.org/drawingml/2006/main"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Proposal and order handoff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01923D-A6F2-4A92-8863-FF2AA32C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0FAA39-B051-4A26-B9FB-5B1C5300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432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CONTRACT LIFECYCLE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8858250" y="3619500"/>
            <a:ext cx="33337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F8BFA7-6D0E-4E46-AD9B-4642F2FB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67150"/>
            <a:ext cx="333375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Contract creation and repository</a:t>
            </a:r>
          </a:p>
          <a:p xmlns:a="http://schemas.openxmlformats.org/drawingml/2006/main"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Clause, approval and signature</a:t>
            </a:r>
          </a:p>
          <a:p xmlns:a="http://schemas.openxmlformats.org/drawingml/2006/main"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Account/entity association</a:t>
            </a:r>
          </a:p>
          <a:p xmlns:a="http://schemas.openxmlformats.org/drawingml/2006/main"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Obligation and status reporting</a:t>
            </a:r>
          </a:p>
          <a:p xmlns:a="http://schemas.openxmlformats.org/drawingml/2006/main">
            <a:pPr algn="l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Renewal and amendment controls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BC47E3-032E-4D1F-A1D9-BD6ACD17F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591300"/>
            <a:ext cx="1139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Shared controls: identity • security • audit • data quality • release governance • reconciliation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C66AAE-889A-49F3-A74D-21E3ED14A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71532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Flywire future-state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9634739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1" name="Rectangle 60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60" name="Rectangle 59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9" name="Rectangle 58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8" name="Rectangle 57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D53B07-C10C-4477-A35B-8E82C2B62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02870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IMPLEMENTATION BLUEPRINT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8FA173-FDAD-4A6F-B600-9195D762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314450"/>
            <a:ext cx="11315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544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Six principles keep the data model, services and process states synchronized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1162050" y="22479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99E31C-3262-4185-95E8-B7540800F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7143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440B01-2421-4AF3-A934-E13FBCF75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14600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3D90B6-A02E-4541-9107-9692647A0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5146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Single source of truth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C7529A-CE5C-4D2B-BC49-EC090BAFB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990850"/>
            <a:ext cx="2857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Each business concept has one authoritative owner and one stable key.</a:t>
            </a:r>
          </a:p>
        </p:txBody>
      </p:sp>
      <p:cxnSp>
        <p:nvCxnSpPr>
          <p:cNvPr id="37" name=""/>
          <p:cNvCxnSpPr/>
          <p:nvPr/>
        </p:nvCxnSpPr>
        <p:spPr>
          <a:xfrm xmlns:a="http://schemas.openxmlformats.org/drawingml/2006/main">
            <a:off x="1162050" y="4038600"/>
            <a:ext cx="33337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B01AC4-12A9-428D-8EFB-F38969503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14600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46A925-8400-48D7-A80E-CA40FB90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5146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Configuration over branching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970F2A-1F39-48A3-A079-0BF35D54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90850"/>
            <a:ext cx="2857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Pricing and approval policies live in governed rules, not scattered code.</a:t>
            </a:r>
          </a:p>
        </p:txBody>
      </p:sp>
      <p:cxnSp>
        <p:nvCxnSpPr>
          <p:cNvPr id="41" name=""/>
          <p:cNvCxnSpPr/>
          <p:nvPr/>
        </p:nvCxnSpPr>
        <p:spPr>
          <a:xfrm xmlns:a="http://schemas.openxmlformats.org/drawingml/2006/main">
            <a:off x="4953000" y="4038600"/>
            <a:ext cx="33337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1D6392-26EF-4371-87CE-D888DA6F7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514600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1B3ADB-7118-4C7E-87DE-1415B01F9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146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State drives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A088B1-0F06-4715-946D-7660E1FB9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90850"/>
            <a:ext cx="2857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Editability, approvals, documents and handoffs depend on explicit lifecycle states.</a:t>
            </a:r>
          </a:p>
        </p:txBody>
      </p:sp>
      <p:cxnSp>
        <p:nvCxnSpPr>
          <p:cNvPr id="45" name=""/>
          <p:cNvCxnSpPr/>
          <p:nvPr/>
        </p:nvCxnSpPr>
        <p:spPr>
          <a:xfrm xmlns:a="http://schemas.openxmlformats.org/drawingml/2006/main">
            <a:off x="8743950" y="4038600"/>
            <a:ext cx="33337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F56758-E064-4145-8927-51BB20B07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91050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6867E4-D0A6-4A97-B392-97AFA12FB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5910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Events carry correlation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C505AB-E7ED-4F84-886A-27C154AB1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067300"/>
            <a:ext cx="2857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Every downstream message can be retried, traced and reconciled.</a:t>
            </a:r>
          </a:p>
        </p:txBody>
      </p:sp>
      <p:cxnSp>
        <p:nvCxnSpPr>
          <p:cNvPr id="49" name=""/>
          <p:cNvCxnSpPr/>
          <p:nvPr/>
        </p:nvCxnSpPr>
        <p:spPr>
          <a:xfrm xmlns:a="http://schemas.openxmlformats.org/drawingml/2006/main">
            <a:off x="1162050" y="6115050"/>
            <a:ext cx="33337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4E425A-124D-4873-9996-2920B08FC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91050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5368C4-C197-4536-804E-E672DA3A0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5910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Metrics use one engine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6983CA-9689-45BB-87A6-FD61F5C7E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067300"/>
            <a:ext cx="2857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ARR, MRR, TCV and one-time revenue share versioned calculation inputs.</a:t>
            </a:r>
          </a:p>
        </p:txBody>
      </p:sp>
      <p:cxnSp>
        <p:nvCxnSpPr>
          <p:cNvPr id="53" name=""/>
          <p:cNvCxnSpPr/>
          <p:nvPr/>
        </p:nvCxnSpPr>
        <p:spPr>
          <a:xfrm xmlns:a="http://schemas.openxmlformats.org/drawingml/2006/main">
            <a:off x="4953000" y="6115050"/>
            <a:ext cx="33337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46F047-929F-4BAE-90F4-4020BF22D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591050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631AF2-8E90-4558-8307-67923E644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5910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Controls ship with features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311BB0-C2DA-4B39-9193-843D0941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067300"/>
            <a:ext cx="2857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Security, audit, tests and rollback are part of every capability.</a:t>
            </a:r>
          </a:p>
        </p:txBody>
      </p:sp>
      <p:cxnSp>
        <p:nvCxnSpPr>
          <p:cNvPr id="57" name=""/>
          <p:cNvCxnSpPr/>
          <p:nvPr/>
        </p:nvCxnSpPr>
        <p:spPr>
          <a:xfrm xmlns:a="http://schemas.openxmlformats.org/drawingml/2006/main">
            <a:off x="8743950" y="6115050"/>
            <a:ext cx="33337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0B7F9B-6569-4B46-8185-5174D2261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71532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Flywire future-state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18932889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19" name="Rectangle 18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7" name="Rectangle 16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6" name="Rectangle 15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7BAD1B-40E7-4A99-8781-BB81C7417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02870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IMPLEMENTATION BLUEPRINT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F721AC-0A80-486F-81FC-FFCD462E7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314450"/>
            <a:ext cx="11315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544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target architecture separates experience, orchestration, integration and enterprise platforms</a:t>
            </a:r>
          </a:p>
        </p:txBody>
      </p:sp>
      <p:cxnSp>
        <p:nvCxnSpPr>
          <p:cNvPr id="13" name=""/>
          <p:cNvCxnSpPr/>
          <p:nvPr/>
        </p:nvCxnSpPr>
        <p:spPr>
          <a:xfrm xmlns:a="http://schemas.openxmlformats.org/drawingml/2006/main">
            <a:off x="1162050" y="22479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26B7F9-3FDD-4AB9-9D3B-D43380EFA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7143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82beb9907c4875"/>
          <a:stretch xmlns:a="http://schemas.openxmlformats.org/drawingml/2006/main"/>
        </p:blipFill>
        <p:spPr>
          <a:xfrm xmlns:a="http://schemas.openxmlformats.org/drawingml/2006/main">
            <a:off x="2447100" y="2343150"/>
            <a:ext cx="5240400" cy="45529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0137ED-454F-4831-BC1A-AAB1C50C5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146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WHY THIS SHAPE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1197E7-728A-4418-9555-A9D8BFC1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76550"/>
            <a:ext cx="2857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One CRM experience for sales, deal desk and customer success</a:t>
            </a:r>
          </a:p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Orchestration owns commercial process; integrations do not</a:t>
            </a:r>
          </a:p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Integration layer handles transformation, retry and correlation</a:t>
            </a:r>
          </a:p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Finance acknowledgements flow back into reconciliation</a:t>
            </a:r>
          </a:p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Reporting consumes governed CRM and data-platform definitions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60CD01-1CBA-4174-89BF-354229BE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1912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Design rule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39FBA7-1E2A-4B40-928B-EF72EA58A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960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7862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No point-to-point integration may silently change the commercial meaning of a record.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D3B296-C8C1-432A-95E2-DFCE76F4D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71532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Flywire future-state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14365642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1" name="Rectangle 20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165D71-12AF-4719-BFAA-87833967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02870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IMPLEMENTATION BLUEPRINT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6F8212-CF22-4F51-8303-7AF327C40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314450"/>
            <a:ext cx="11315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544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canonical model gives each commercial concept one governed home</a:t>
            </a:r>
          </a:p>
        </p:txBody>
      </p:sp>
      <p:cxnSp>
        <p:nvCxnSpPr>
          <p:cNvPr id="12" name=""/>
          <p:cNvCxnSpPr/>
          <p:nvPr/>
        </p:nvCxnSpPr>
        <p:spPr>
          <a:xfrm xmlns:a="http://schemas.openxmlformats.org/drawingml/2006/main">
            <a:off x="1162050" y="22479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0D9314-ED1A-436E-84C0-D4615A73E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7143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5D5985-9A7E-4D37-95AD-3E7738C15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19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COMMERCIAL CONFIGURATION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1C459E-5C2B-413C-BE54-A1BC83473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4193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APPROVAL, CONTRACT AND EXECUTION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834f2e99274b5b"/>
          <a:stretch xmlns:a="http://schemas.openxmlformats.org/drawingml/2006/main"/>
        </p:blipFill>
        <p:spPr>
          <a:xfrm xmlns:a="http://schemas.openxmlformats.org/drawingml/2006/main">
            <a:off x="2170128" y="2705100"/>
            <a:ext cx="3413095" cy="4114800"/>
          </a:xfrm>
          <a:prstGeom xmlns:a="http://schemas.openxmlformats.org/drawingml/2006/main" prst="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f5584000fa43ea"/>
          <a:stretch xmlns:a="http://schemas.openxmlformats.org/drawingml/2006/main"/>
        </p:blipFill>
        <p:spPr>
          <a:xfrm xmlns:a="http://schemas.openxmlformats.org/drawingml/2006/main">
            <a:off x="7010400" y="3287728"/>
            <a:ext cx="5429250" cy="2949544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779C8E-AD51-46F3-9183-9121CB805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71532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PlantUML source is included in the implementation working set</a:t>
            </a:r>
          </a:p>
        </p:txBody>
      </p:sp>
    </p:spTree>
    <p:extLst>
      <p:ext uri="{BB962C8B-B14F-4D97-AF65-F5344CB8AC3E}">
        <p14:creationId xmlns:p14="http://schemas.microsoft.com/office/powerpoint/2010/main" val="8446464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47" name="Rectangle 46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6" name="Rectangle 45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5" name="Rectangle 44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4" name="Rectangle 43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11A0FD4-7321-4C35-A1DE-CBB1CE664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02870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IMPLEMENTATION BLUEPRINT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668F2B-C8A3-4F53-AD78-B50BF06E6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314450"/>
            <a:ext cx="11315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972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Ownership rules prevent duplicate truth and uncontrolled updates</a:t>
            </a:r>
          </a:p>
        </p:txBody>
      </p:sp>
      <p:cxnSp>
        <p:nvCxnSpPr>
          <p:cNvPr id="43" name=""/>
          <p:cNvCxnSpPr/>
          <p:nvPr/>
        </p:nvCxnSpPr>
        <p:spPr>
          <a:xfrm xmlns:a="http://schemas.openxmlformats.org/drawingml/2006/main">
            <a:off x="1162050" y="22479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7E6EFF-C086-4FBF-85EF-24EA56DF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7143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4D4BD3-3763-44CC-A097-791DA9B06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95550"/>
            <a:ext cx="1771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DOMAIN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3318D3-1DC1-45CA-9F17-9395C602A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95550"/>
            <a:ext cx="3114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AUTHORITATIVE RECORD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02362B-9BD3-4C30-84F9-555E7ECCF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495550"/>
            <a:ext cx="2143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OWNER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904550-BDD9-415C-8CA9-87EE662D3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95550"/>
            <a:ext cx="407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KEY CONTROL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70D51E-6F4A-4CEC-9D1C-DC30F073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14650"/>
            <a:ext cx="11391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1047BC-EA15-4B01-B578-8F5B08DE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Customer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FA52C9-449D-444B-BEF2-332ACB42E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990850"/>
            <a:ext cx="2962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CustomerAccount + LegalEntity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E373BA-1865-48CD-A6A3-0A11DBBA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990850"/>
            <a:ext cx="1990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CRM data steward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E644B5-C138-4DCD-833A-914BFF4C7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990850"/>
            <a:ext cx="3924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Golden key, hierarchy and match policy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740AEE-0766-45F3-ABB3-BF2A7A0B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52825"/>
            <a:ext cx="11391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59C24A-9335-4A67-9FE5-5A9DA2D25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2902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11A353-4C82-4378-9A44-A49E67F63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629025"/>
            <a:ext cx="2962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Product + PriceBookEntry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1EA11D-38D1-4CDF-923A-B3941E2A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629025"/>
            <a:ext cx="1990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Product operations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6E9E38-7726-4CB9-A8F3-3C6BDB45C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629025"/>
            <a:ext cx="3924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SKU uniqueness, eligibility and effective dates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FAD7D3-4F5C-41F4-A87F-BEEF7C1E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91000"/>
            <a:ext cx="11391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6A1C28-D857-4BE6-B5F7-1A62A17B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672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Commercial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50F6C0-54D9-41EE-A317-35B20F24D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267200"/>
            <a:ext cx="2962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Quote + QuoteLine + PricingSchedule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4B9CF9-6F84-4846-97DD-DCD643A19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267200"/>
            <a:ext cx="1990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Sales / deal desk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A33C97-E222-4F3D-9881-ACDD7DC30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267200"/>
            <a:ext cx="3924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Version, state, approval and edit locks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74B04E-79CB-4B63-A07A-E0235A8C3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29175"/>
            <a:ext cx="11391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E0AD9D-6333-4BD1-AA38-BB153AB5E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053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Contract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DCA879-37EC-4008-B03D-A06732FF4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905375"/>
            <a:ext cx="2962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Contract + ContractLine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264A7B-F25A-4489-9B47-A4826033D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905375"/>
            <a:ext cx="1990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8916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Legal / commercial operations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3A9F9F-ACB6-4E16-9928-CBA53BDD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905375"/>
            <a:ext cx="3924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Accepted terms, entity and obligation integrity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006055-B9C8-4DED-805C-D8CD467C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467350"/>
            <a:ext cx="11391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71A034-9CB9-4E77-B70E-50AA0B1E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435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Order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C6E0D3-89A6-4794-AEE6-40C26878F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543550"/>
            <a:ext cx="2962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Order + IntegrationEvent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94EFE4-C28A-4383-8259-AEAEE7A15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5543550"/>
            <a:ext cx="1990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60FD84-4094-4D36-A217-22F8C7BE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543550"/>
            <a:ext cx="3924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Correlation, acknowledgement and retry status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78D3A66-0916-42A2-9B85-5275572FA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105525"/>
            <a:ext cx="11391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2DA8CFE-C1C2-4F3D-8023-4BE4139F9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18172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Revenue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0574FF8-5F6E-425E-B70E-A53EDC90C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6181725"/>
            <a:ext cx="2962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RevenueMetrics + financial actuals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18EF26B-26EA-411A-BFAB-A349769BD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6181725"/>
            <a:ext cx="1990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Finance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C511DF8-FB63-4BAB-AB27-E88355B0B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6181725"/>
            <a:ext cx="3924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Versioned formula and variance reconciliation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60CC3B1-0279-4E3F-9BA6-FA85F7F34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85800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Every integration reads from an authoritative record and writes only through an owned service or approved reconciliation path.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848589A-BAFF-4CF7-AEA9-BE11AAFA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71532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Flywire future-state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13185588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51" name="Rectangle 50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0" name="Rectangle 49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9" name="Rectangle 48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8" name="Rectangle 47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F1A0E9A-20ED-4D32-99B3-7A62EF974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02870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IMPLEMENTATION BLUEPRINT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E17382-D601-478F-9F37-C758AB386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314450"/>
            <a:ext cx="11315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8149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Data moves forward only after validation and controlled decisions</a:t>
            </a:r>
          </a:p>
        </p:txBody>
      </p:sp>
      <p:cxnSp>
        <p:nvCxnSpPr>
          <p:cNvPr id="47" name=""/>
          <p:cNvCxnSpPr/>
          <p:nvPr/>
        </p:nvCxnSpPr>
        <p:spPr>
          <a:xfrm xmlns:a="http://schemas.openxmlformats.org/drawingml/2006/main">
            <a:off x="1162050" y="22479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A16356-00D1-4242-8098-6633987D8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7143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0893FA-1437-409C-BEBC-E8A0DD7D2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62250"/>
            <a:ext cx="15621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FEF5F0-8D6A-4B91-A614-9271C7856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718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IDENTIFY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22AAD1-3095-488B-A3AE-A24224CA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29000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5556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Match customer</a:t>
            </a:r>
          </a:p>
          <a:p xmlns:a="http://schemas.openxmlformats.org/drawingml/2006/main">
            <a:pPr algn="ctr">
              <a:defRPr sz="11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and entity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EE6EE0-C980-4BF9-BD5F-FB1BDCC1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38500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DE126F-5DED-4CBF-BB7C-91D2A9C7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62250"/>
            <a:ext cx="15621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6D73D5-EA38-40F6-8FDC-612F139D5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718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CONFIGURE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825446-1532-436B-9177-516AB7433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429000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5556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Select product</a:t>
            </a:r>
          </a:p>
          <a:p xmlns:a="http://schemas.openxmlformats.org/drawingml/2006/main">
            <a:pPr algn="ctr">
              <a:defRPr sz="11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and price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9DD866-9C7F-4271-BB42-188066296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38500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7D2B34-803D-40EC-992A-D7EFB082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762250"/>
            <a:ext cx="15621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16058A-7CAE-4754-830C-94AD8489C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9718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CALCULATE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B5E1E4-AC5E-4920-954B-D6BEAD700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29000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5556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Schedule value</a:t>
            </a:r>
          </a:p>
          <a:p xmlns:a="http://schemas.openxmlformats.org/drawingml/2006/main">
            <a:pPr algn="ctr">
              <a:defRPr sz="11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and metrics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96ED48-B371-421C-8595-835A1A10E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38500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6EAAE5-8892-4F59-A0B1-4C263188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762250"/>
            <a:ext cx="15621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C54A4E-B6E3-44C2-9743-0D4E03380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9718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DECIDE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C4FD29-AFE8-4BA4-86A1-4A84826D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429000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5556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Validate and</a:t>
            </a:r>
          </a:p>
          <a:p xmlns:a="http://schemas.openxmlformats.org/drawingml/2006/main">
            <a:pPr algn="ctr">
              <a:defRPr sz="11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approve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5F8FE6-3B0D-4778-BA40-539D03012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38500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E6EA3A-FE64-46B3-AF89-1F11EF2D4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762250"/>
            <a:ext cx="15621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C8739E-63E8-4D58-90CE-D1AA48905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718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COMMIT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0400EC-20CC-43B9-A350-966CFA1EF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29000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5556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Generate, sign</a:t>
            </a:r>
          </a:p>
          <a:p xmlns:a="http://schemas.openxmlformats.org/drawingml/2006/main">
            <a:pPr algn="ctr">
              <a:defRPr sz="11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and contract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1B8118-7534-4A4C-9410-9EA4B77A5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0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DAEEEC-7FBE-48F1-AF32-57854C6C3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762250"/>
            <a:ext cx="15621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1A40AC-8F4B-4F19-8CAF-F24C2AB8F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97180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RECONCILE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E95AFC-2EB6-4C0C-995C-15CCAF547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429000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5556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Order, bill</a:t>
            </a:r>
          </a:p>
          <a:p xmlns:a="http://schemas.openxmlformats.org/drawingml/2006/main">
            <a:pPr algn="ctr">
              <a:defRPr sz="11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and compare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0836A4-9453-4D61-A0C7-1FEC98F62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76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CONTROL GATES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F860B2-5060-4EBE-9180-58A3349B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577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8DD1E5-E149-4763-A9D2-31E15C4E4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857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Identity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E01FB6-C006-4068-904C-46BA7408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1435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Golden account, hierarchy and legal entity are resolved.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15AF19-EFC6-4059-8866-AE04ECB1A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577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3CBFF8-993A-4612-9FB7-0361CFE0B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857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Commercial policy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1D58DB9-7786-4EED-9326-A83D0DC5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1435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Product, pricing, term, risk and completeness pass.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375E807-2718-4A3B-A3E7-4C058981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8577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E34E993-C0B0-422D-B450-5861423A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857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Approval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7EDCEBF-E7F3-4B21-AFF7-063C7EDB3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1435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Required personas decide; material values remain locked.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E851C93-FDFE-4EA6-B75B-0B036734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7340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D424591-B76D-483F-A9D7-DEE418281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7340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Acceptance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FCA9DEA-7658-4CF8-8E44-D89A3B749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60198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Proposal and contract reference the approved quote version.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7E76369-A75E-4A09-AF97-EAA2BDF30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7340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F74505C-0AB9-45B7-9834-88B3CABD9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7340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Reconciliation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FF7E979-F225-41F4-84A6-ECD59278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60198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Downstream acknowledgement and financial variance are recorded.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496FA05-DBC2-4972-99BF-112771EEC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71532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Flywire future-state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14544520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75" name="Rectangle 74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4" name="Rectangle 73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3" name="Rectangle 72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2" name="Rectangle 71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10BBBF0-9A5F-4C97-A870-3A090325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02870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IMPLEMENTATION BLUEPRINT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FBE29E-DD1D-4332-AD78-71075A55F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314450"/>
            <a:ext cx="11315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544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One quote state model governs edits, approvals, documents and downstream handoffs</a:t>
            </a:r>
          </a:p>
        </p:txBody>
      </p:sp>
      <p:cxnSp>
        <p:nvCxnSpPr>
          <p:cNvPr id="42" name=""/>
          <p:cNvCxnSpPr/>
          <p:nvPr/>
        </p:nvCxnSpPr>
        <p:spPr>
          <a:xfrm xmlns:a="http://schemas.openxmlformats.org/drawingml/2006/main">
            <a:off x="1162050" y="22479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410988-8A3D-46B3-B6A2-D62CC1F70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7143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9B37E2-1F0D-42D1-B9BC-7726F51F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52750"/>
            <a:ext cx="114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59CA46-BD13-4F9B-A843-CD813CB1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62300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619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DRAFT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5FA326-58A1-4019-B7A1-7729FAD87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124200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CBF84E-C6CE-4626-AAD4-916D8717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952750"/>
            <a:ext cx="114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FC3732-D9AC-41BC-91F2-97F0EAD73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3162300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9854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CONFIGURED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DD5F8E-86BD-4AF9-A1B6-E954E4F3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124200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93CBA9-B7A7-4029-935C-AC606F4CA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52750"/>
            <a:ext cx="114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94A498-7311-428A-8F4A-6737D98E3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162300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619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VALIDATED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A4EFCB-A284-44CB-A0AC-C0585641B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124200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47A2B1-BA9B-4598-A79E-363FB7929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952750"/>
            <a:ext cx="114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DF652F-3325-424E-A86D-9DFC344D4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162300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619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APPROVED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18A12-8520-4F68-85B7-3E763C933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124200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81C264-8914-4945-B24B-7F5A4B8AE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952750"/>
            <a:ext cx="114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6E7ECD-7F5A-4228-A518-7245441C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62300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619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PROPOSAL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65B437-062E-4FD5-8956-9F26F02DD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24200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030AE7-3FD9-4E45-B41B-23F1D8B37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952750"/>
            <a:ext cx="114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DC33C1-52BF-4C03-9635-3EA085A07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62300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6511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CONTRACTED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9A2ED5-5B22-40E8-9219-406128D3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3124200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3D8588-4102-45C4-9000-FE67B8BA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952750"/>
            <a:ext cx="114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969582-2015-4DED-8AF3-AD5AEBCED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162300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619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ORDERED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94D4B8-2776-41DC-AB28-E5EA7DCC7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124200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62EB4A-A44F-4B68-B8AB-C3AF08138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952750"/>
            <a:ext cx="114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4E52FE-432B-4E13-8E29-5762C0895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3162300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619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ACTIVATED</a:t>
            </a:r>
          </a:p>
        </p:txBody>
      </p:sp>
      <p:cxnSp>
        <p:nvCxnSpPr>
          <p:cNvPr id="67" name=""/>
          <p:cNvCxnSpPr/>
          <p:nvPr/>
        </p:nvCxnSpPr>
        <p:spPr>
          <a:xfrm xmlns:a="http://schemas.openxmlformats.org/drawingml/2006/main">
            <a:off x="4191000" y="3829050"/>
            <a:ext cx="9525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2BCB81-FC62-4839-8E20-FDC6248BC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70535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7334A1-384E-4215-A2CA-036F802DB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8958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6596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PENDING APPROVAL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7450F5-A4AF-452A-B66B-A545564B0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74345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902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Required after validation when policy thresholds are triggered</a:t>
            </a:r>
          </a:p>
        </p:txBody>
      </p:sp>
      <p:cxnSp>
        <p:nvCxnSpPr>
          <p:cNvPr id="71" name=""/>
          <p:cNvCxnSpPr/>
          <p:nvPr/>
        </p:nvCxnSpPr>
        <p:spPr>
          <a:xfrm xmlns:a="http://schemas.openxmlformats.org/drawingml/2006/main">
            <a:off x="10382250" y="3829050"/>
            <a:ext cx="9525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FEFB75F-BFE1-4638-9018-04F3F63B6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705350"/>
            <a:ext cx="1524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BA18BE0-4D3B-480B-BCBA-3FC5EFE0C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895850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AMENDMENT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EAA701E-3C61-47AE-94CC-4CD6611A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743450"/>
            <a:ext cx="114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76923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Material change returns to validation and approval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23C9821-DD3E-4BA1-936F-191827B2C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7721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STATE GUARANTEES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EE3E43E-6E3C-4422-8444-250BA132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15315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Draft permits editing • Pending Approval locks commercial values • Proposal references an immutable approved version • Contracted and Ordered require acknowledged handoffs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9ED6F1D-816E-423A-897A-7CE19700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7627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1159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Status is behavior—not a label.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42DDD0D-C994-4B13-945D-4A1F56605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71532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Flywire future-state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58767038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9" name="Rectangle 28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8" name="Rectangle 27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7" name="Rectangle 26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6" name="Rectangle 25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BD534E-2375-40F9-87D0-3FE58F004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02870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IMPLEMENTATION BLUEPRINT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BD8BE9-0367-4EF0-9A9E-7A24CA919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314450"/>
            <a:ext cx="11315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Approval rules are configuration, not hard-coded branching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1162050" y="22479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CFFEFB-B9DF-462A-A36A-40FACFEFA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7143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C61C9D-6930-4328-BCCA-47F906A6B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146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RULE 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750510-0577-4AB2-9B8A-AA903AF3C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57500"/>
            <a:ext cx="3333750" cy="3295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47ED08-114C-47AF-A8BD-7DFBC0DE4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05150"/>
            <a:ext cx="28575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Rule key and effective dates</a:t>
            </a:r>
          </a:p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Active flag and priority</a:t>
            </a:r>
          </a:p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Discount / ARR / term thresholds</a:t>
            </a:r>
          </a:p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Product, entity and currency scope</a:t>
            </a:r>
          </a:p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Risk and exception categories</a:t>
            </a:r>
          </a:p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Required persona and sequence</a:t>
            </a:r>
          </a:p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Parallel-group identifier</a:t>
            </a:r>
          </a:p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Human-readable reason template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D5FD6D-41D7-4008-8989-FCDA1C963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191000"/>
            <a:ext cx="666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1B96AF-23CE-4C9D-A8C5-378FAAFA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5146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EVALUATION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379817-0843-44D4-BF87-8609E895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857500"/>
            <a:ext cx="2857500" cy="3295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255878-5D7D-4D94-A792-B92278222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1242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Quote Context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29C645-19FF-43DF-BAF4-9FCA71D7F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004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B39723-5043-4E8C-BD4F-0B9F568EF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9814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Active Rules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4DE50D-50D0-4A76-BE85-B1CC042D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3865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7E71B7-7DCC-40F5-A54C-DA4158847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8768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Approval Plan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B16FA5-447E-4EA1-BDA7-433BB6361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353050"/>
            <a:ext cx="2400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ordered steps • parallel groups • reasons • missing approvers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52D3D8-2A14-4582-8D2C-15F7D239E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91000"/>
            <a:ext cx="666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C8B3CF-C621-439F-918B-ABA21E01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514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CONTROLLED ACTION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F1F7D7-2473-49B9-BC8B-144D59D2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857500"/>
            <a:ext cx="2857500" cy="3295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F227C5-C4B4-4255-9661-29585CBE7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105150"/>
            <a:ext cx="24003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Create approval request</a:t>
            </a:r>
          </a:p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Resolve approvers by persona</a:t>
            </a:r>
          </a:p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Lock commercial values</a:t>
            </a:r>
          </a:p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each decision</a:t>
            </a:r>
          </a:p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Notify only required participants</a:t>
            </a:r>
          </a:p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Recall or reject with reason</a:t>
            </a:r>
          </a:p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Unlock through controlled transition</a:t>
            </a:r>
          </a:p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Retain audit history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F2606A-E145-405D-A1BC-9FDCCEF4A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572250"/>
            <a:ext cx="11106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Phase 1 can run in evaluation-only mode before submission is enabled.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6EA605-1900-4B62-91FD-5629DB036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71532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Flywire future-state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5986455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1" name="Rectangle 20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D3079E-DA05-4627-AED6-B3570FFCC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02870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IMPLEMENTATION BLUEPRINT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73448E-74B3-4708-8018-63251117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314450"/>
            <a:ext cx="11315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6599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Approval services isolate policy decisions from lifecycle execution</a:t>
            </a:r>
          </a:p>
        </p:txBody>
      </p:sp>
      <p:cxnSp>
        <p:nvCxnSpPr>
          <p:cNvPr id="15" name=""/>
          <p:cNvCxnSpPr/>
          <p:nvPr/>
        </p:nvCxnSpPr>
        <p:spPr>
          <a:xfrm xmlns:a="http://schemas.openxmlformats.org/drawingml/2006/main">
            <a:off x="1162050" y="22479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DE6DF8-E4FE-44EF-ADC5-E8BE72CDE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7143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e424a4cb0a4241"/>
          <a:stretch xmlns:a="http://schemas.openxmlformats.org/drawingml/2006/main"/>
        </p:blipFill>
        <p:spPr>
          <a:xfrm xmlns:a="http://schemas.openxmlformats.org/drawingml/2006/main">
            <a:off x="1162050" y="2935288"/>
            <a:ext cx="11391900" cy="21875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FB0DCA-275F-41F7-897A-D60BE6EB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848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Context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3F867A-EF5A-4E32-B0D9-37F293D9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210300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Build one immutable view of quote, line, customer and risk inputs.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C67CB7-0B33-4933-9EF6-9162E69E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48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9C4E09-595A-4278-987E-52A1B0729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210300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Evaluate active rules and produce an explainable approval plan.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EA0301-F36E-4E4A-BDF7-143559731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848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Lifecycle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7E16AE-CC8D-403F-8B60-2C8B76C72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210300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Create requests, lock values, record decisions and preserve audit.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412A8D-63D0-4B1E-BE95-2DF503511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71532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Flywire future-state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44005054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41" name="Rectangle 40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0" name="Rectangle 39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9" name="Rectangle 38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8" name="Rectangle 37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298B263-0E54-4BE6-929F-AA3676CB5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02870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IMPLEMENTATION BLUEPRINT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E552FB-F0A1-4D55-8C1A-67D6337B2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314450"/>
            <a:ext cx="11315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544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Pricing schedules and revenue metrics share one versioned calculation model</a:t>
            </a:r>
          </a:p>
        </p:txBody>
      </p:sp>
      <p:cxnSp>
        <p:nvCxnSpPr>
          <p:cNvPr id="37" name=""/>
          <p:cNvCxnSpPr/>
          <p:nvPr/>
        </p:nvCxnSpPr>
        <p:spPr>
          <a:xfrm xmlns:a="http://schemas.openxmlformats.org/drawingml/2006/main">
            <a:off x="1162050" y="22479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077533-3C05-4D5C-B58D-E61307CD6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7143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4E98E5-C5C0-4AB1-9BA7-CD54B8BC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62250"/>
            <a:ext cx="1581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35A803-2D4C-4C24-B062-88D2C3000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527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CATALOGUE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E7554E-D4E6-47CC-8319-D00C3DF38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371850"/>
            <a:ext cx="135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Product, bundle, eligibility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34C81D-3FB8-436E-A9FE-69C2E3E6C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38500"/>
            <a:ext cx="2667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839749-378F-4866-B4CE-9812C03D3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62250"/>
            <a:ext cx="1581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241697-7DEB-4B55-A3D8-BA41AF2B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527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PRICE BOOK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2D663F-16B9-4837-8B73-97B79E0A2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371850"/>
            <a:ext cx="135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Currency, list price, dates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34E504-99BB-416B-81AE-AC82DD754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238500"/>
            <a:ext cx="2667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3023CE-E206-4FF9-826C-68A5631C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762250"/>
            <a:ext cx="1581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73420F-F3ED-4E5E-B60C-BE7D153F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9527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PRICING RULE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8F8C8A-8C9C-405A-A665-2A768E66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71850"/>
            <a:ext cx="135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Tier, ramp, term, exception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8CF9DA-6443-4F25-83A5-A4187557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38500"/>
            <a:ext cx="2667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93033C-34F3-4B7F-A941-BDE7E12BD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762250"/>
            <a:ext cx="1581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B48459-DA7C-47A4-809D-949C485F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9527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QUOTE LINE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9D9173-08C4-477C-BF2E-D2466DBE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71850"/>
            <a:ext cx="135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Quantity and net price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66A0DC-DA2B-4EDA-8110-3B07F24B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38500"/>
            <a:ext cx="2667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4C2B64-0E66-4F71-AD14-2F432DA56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762250"/>
            <a:ext cx="1581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48DFC0-176D-4AB3-9654-BAEC16F5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527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SCHEDULE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EDC730-5DBE-477C-9F8E-2177EAF2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371850"/>
            <a:ext cx="135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Period-level amount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03C618-0C85-4ECE-B993-C636D5C24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238500"/>
            <a:ext cx="2667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816DDE-C2D2-4ADD-9A48-1B4D212C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762250"/>
            <a:ext cx="1581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71187A-08EA-4981-9993-956B453BE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952750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METRICS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055674-0E2F-45EA-94C0-CAC908062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371850"/>
            <a:ext cx="135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ARR, MRR, TCV, one-time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41E3C3-3064-4F54-A942-1BBB6B59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76750"/>
            <a:ext cx="53340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D2EF60-3A70-4E24-BB89-B4003A32B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053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CALCULATION CONTRACT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332083-34AC-4D8E-BE23-25D04F70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67300"/>
            <a:ext cx="485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Inputs are captured with quote-version and rule-version identifiers</a:t>
            </a:r>
          </a:p>
          <a:p xmlns:a="http://schemas.openxmlformats.org/drawingml/2006/main">
            <a:pPr algn="l">
              <a:defRPr sz="12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Schedules preserve escalation and ramp-period detail</a:t>
            </a:r>
          </a:p>
          <a:p xmlns:a="http://schemas.openxmlformats.org/drawingml/2006/main">
            <a:pPr algn="l">
              <a:defRPr sz="12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One-time lines never distort recurring metrics</a:t>
            </a:r>
          </a:p>
          <a:p xmlns:a="http://schemas.openxmlformats.org/drawingml/2006/main">
            <a:pPr algn="l">
              <a:defRPr sz="12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Currency conversion uses an explicit rate date and source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807551-FC69-4F90-A0A1-6D00A69B1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476750"/>
            <a:ext cx="54864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FB1D92-0875-4C94-B1C9-D4972007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7053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OUTPUT AND RECONCILIATION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09A346-5258-476E-A679-2B7A702E9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067300"/>
            <a:ext cx="4953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ARR = normalized recurring value</a:t>
            </a:r>
          </a:p>
          <a:p xmlns:a="http://schemas.openxmlformats.org/drawingml/2006/main">
            <a:pPr algn="l"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MRR = recurring value ÷ service months</a:t>
            </a:r>
          </a:p>
          <a:p xmlns:a="http://schemas.openxmlformats.org/drawingml/2006/main">
            <a:pPr algn="l"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TCV = sum of all scheduled contract value</a:t>
            </a:r>
          </a:p>
          <a:p xmlns:a="http://schemas.openxmlformats.org/drawingml/2006/main">
            <a:pPr algn="l"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Variance = contracted metric − financial actual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93B822-B737-441D-96E5-C1CD0A1E7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71532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Flywire future-state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42787430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8" name="Rectangle 27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7" name="Rectangle 26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6" name="Rectangle 25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5" name="Rectangle 24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1E7208-5ED1-4858-9DC7-6F33041E0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02870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IMPLEMENTATION BLUEPRINT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CF8623-85B1-49E3-940C-B01AFCE97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314450"/>
            <a:ext cx="11315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544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Product governance separates catalogue, price, packaging and eligibility</a:t>
            </a:r>
          </a:p>
        </p:txBody>
      </p:sp>
      <p:cxnSp>
        <p:nvCxnSpPr>
          <p:cNvPr id="24" name=""/>
          <p:cNvCxnSpPr/>
          <p:nvPr/>
        </p:nvCxnSpPr>
        <p:spPr>
          <a:xfrm xmlns:a="http://schemas.openxmlformats.org/drawingml/2006/main">
            <a:off x="1162050" y="22479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8C0791-9766-4F16-A9E0-BB8DC4BFB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7143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869C7B-61D3-411F-9BD5-1A1C3697F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76500"/>
            <a:ext cx="981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D72859-33EC-46B7-8686-23A50AFE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098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SELLABLE EXPERIENCE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2CB88F-751B-44FB-B9C5-6A721680A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609850"/>
            <a:ext cx="628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Guided selection • compatible options • customer-friendly labels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B6A3E9-0950-43DB-85DB-08E408BC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314700"/>
            <a:ext cx="9315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2622D3-49B1-475B-9044-ADBC0CF92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4480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PACKAGING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D22B78-3745-40FC-B834-EF05A026C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448050"/>
            <a:ext cx="594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Bundles • required/optional components • product relationships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3F897D-3369-45B6-A783-1EBA8BE5C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152900"/>
            <a:ext cx="8820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EFD6AF-3A24-49C4-A24E-9E75292DD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2862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PRICING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CC7414-A3AD-4363-ADE4-CB2B9F3E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286250"/>
            <a:ext cx="560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Price books • currency • effective dates • tier/ramp/term rules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79A37E-FC18-4C5C-B8C3-85FFA96FD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991100"/>
            <a:ext cx="83248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F14792-C6A3-4499-B45B-73926E08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1244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CATALOGUE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3C86A7-404F-4263-98F0-485B28D7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24450"/>
            <a:ext cx="525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SKU • product family • lifecycle • billing and revenue classification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58C9F6-AA3F-4590-AB90-685EED890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829300"/>
            <a:ext cx="78295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DFFC0D-2320-4D71-A2FB-0A9C3DAF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9626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GOVERNANCE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4E75CD-D5DA-4786-954E-61D2E3A9A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962650"/>
            <a:ext cx="491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Owner • approval • data quality • release and audit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D45BA0-4BC7-40AF-BCD7-20EB075F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667500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New products enter through a governed lifecycle—not through direct production edits.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B3C52D-AB5A-422C-94DC-1469FB4AC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71532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Flywire future-state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177178568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34" name="Rectangle 33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3" name="Rectangle 32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2" name="Rectangle 31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1" name="Rectangle 30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7E31DB-E517-4A65-9EA2-250E2741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02870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IMPLEMENTATION BLUEPRINT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F632D4-3B80-40D3-ABA1-4E6C21539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314450"/>
            <a:ext cx="11315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Proposal generation consumes the same approved quote model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1162050" y="22479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7B56C8-436F-469D-8C28-061FF28C0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7143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3D8F1F-88CA-4F7B-A7B8-62AADAE3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48000"/>
            <a:ext cx="18669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595179-A926-4C43-9FC2-F0CF600BB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57550"/>
            <a:ext cx="163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APPROVED QUOTE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D7F0D9-25AF-4948-8F35-4455A3DD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29050"/>
            <a:ext cx="1562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Immutable version</a:t>
            </a:r>
          </a:p>
          <a:p xmlns:a="http://schemas.openxmlformats.org/drawingml/2006/main">
            <a:pPr algn="ctr">
              <a:defRPr sz="1200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Approved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E4548A-D4E3-4DE6-B5C9-4747F3E2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33800"/>
            <a:ext cx="457200" cy="2000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CB798A-C3CB-4740-AC22-284C58ED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48000"/>
            <a:ext cx="18669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74952D-A807-4340-BF34-0DA849ECF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257550"/>
            <a:ext cx="163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9709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NORMALIZED 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BDD499-DB7A-4FD4-A030-F6400BC7B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829050"/>
            <a:ext cx="1562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Customer + groups</a:t>
            </a:r>
          </a:p>
          <a:p xmlns:a="http://schemas.openxmlformats.org/drawingml/2006/main">
            <a:pPr algn="ctr">
              <a:defRPr sz="1200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Lines + schedules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FF4591-2C62-441F-A1B1-E80887F29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733800"/>
            <a:ext cx="457200" cy="2000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9C74C4-5FD0-4AFB-A6D5-EB9A02F3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048000"/>
            <a:ext cx="18669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3F4F71-AAE2-4D01-B434-6E6191C3F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257550"/>
            <a:ext cx="163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TEMPLATE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18B9BA-B957-4F10-8DCB-BD9ECE340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829050"/>
            <a:ext cx="1562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Conditional sections</a:t>
            </a:r>
          </a:p>
          <a:p xmlns:a="http://schemas.openxmlformats.org/drawingml/2006/main">
            <a:pPr algn="ctr">
              <a:defRPr sz="1200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Reusable fragments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263A69-AFBB-487F-9CB0-F80B630B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33800"/>
            <a:ext cx="457200" cy="2000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4561EF-71B9-4389-9D77-6F5698687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48000"/>
            <a:ext cx="18669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27EBF6-701A-4D13-BED3-041BD5457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57550"/>
            <a:ext cx="163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2941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RENDERED PROPOSAL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3723A9-F54A-484B-9799-CD7200F2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829050"/>
            <a:ext cx="1562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Client-facing terms</a:t>
            </a:r>
          </a:p>
          <a:p xmlns:a="http://schemas.openxmlformats.org/drawingml/2006/main">
            <a:pPr algn="ctr">
              <a:defRPr sz="1200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Clear price schedules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8D3602-9FA5-411D-856A-511F848FB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733800"/>
            <a:ext cx="457200" cy="2000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7FBF5F-494C-4251-AF90-7ABA9553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048000"/>
            <a:ext cx="18669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DF43EA-A489-4D38-881B-2C71B5133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3257550"/>
            <a:ext cx="1638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SIGNED ARTIFACT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3A31DE-FE55-4B01-A583-288FDDE1D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829050"/>
            <a:ext cx="1562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Envelope status</a:t>
            </a:r>
          </a:p>
          <a:p xmlns:a="http://schemas.openxmlformats.org/drawingml/2006/main">
            <a:pPr algn="ctr">
              <a:defRPr sz="1200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Content hash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0D16DC-1FB2-4D64-BF23-89ED1325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314950"/>
            <a:ext cx="113919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C5BB4F-C7DB-4786-A20A-CF94FDC8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524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Document controls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56DFEA-7C27-47EE-8F83-EAD20AF2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9436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9892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Template version • input schema version • quote version • generation timestamp • content hash • signature envelope • retention policy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91DCE2-E647-4A46-B26F-D1960469C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71532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Flywire future-state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53894390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51" name="Rectangle 50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0" name="Rectangle 49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9" name="Rectangle 48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8" name="Rectangle 47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9780B6-4912-4DF7-8441-EDDCB6FE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02870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IMPLEMENTATION BLUEPRINT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190D44-60FE-4035-9E7C-291346C72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314450"/>
            <a:ext cx="11315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544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Contract lifecycle begins with accepted structured data—not a document upload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1162050" y="22479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299078-2816-4E6A-B8CA-7932504C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7143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5B8C02-1EC7-40FE-8E1A-1DB12F91E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6225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EE0A57-5B3B-4B16-9393-02B3EB5ED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337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ACCEPT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C72C83-F83E-43C9-97EA-C862069F8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48100"/>
            <a:ext cx="1809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Capture signature and accepted quote version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3028950" y="2971800"/>
            <a:ext cx="3048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163508-19A3-4569-B44B-1FFF4F1B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6225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3D2C82-9BE0-4F77-86B0-C82CAEC4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337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CREATE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D5C33E-D719-4834-BEE3-F96E4B8B6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48100"/>
            <a:ext cx="1809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Create contract and line records with legal entity</a:t>
            </a:r>
          </a:p>
        </p:txBody>
      </p:sp>
      <p:cxnSp>
        <p:nvCxnSpPr>
          <p:cNvPr id="39" name=""/>
          <p:cNvCxnSpPr/>
          <p:nvPr/>
        </p:nvCxnSpPr>
        <p:spPr>
          <a:xfrm xmlns:a="http://schemas.openxmlformats.org/drawingml/2006/main">
            <a:off x="5295900" y="2971800"/>
            <a:ext cx="3048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B73E7F-D440-45A5-AE63-1498EB19B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76225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B1CFE5-66EF-4409-807B-A483C27E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3337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8BF2A3-BAC7-4A32-9E35-17571224A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848100"/>
            <a:ext cx="1809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Verify dates, currency, products and obligations</a:t>
            </a:r>
          </a:p>
        </p:txBody>
      </p:sp>
      <p:cxnSp>
        <p:nvCxnSpPr>
          <p:cNvPr id="43" name=""/>
          <p:cNvCxnSpPr/>
          <p:nvPr/>
        </p:nvCxnSpPr>
        <p:spPr>
          <a:xfrm xmlns:a="http://schemas.openxmlformats.org/drawingml/2006/main">
            <a:off x="7562850" y="2971800"/>
            <a:ext cx="3048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AE45D2-AF0C-484A-A042-AB38ED078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6225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84F8D5-B8C5-48AA-A52D-2D4BA9A51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3337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ACTIVATE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4B5228-E02B-405A-A934-07F6EFD32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1809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Publish order and billing events</a:t>
            </a:r>
          </a:p>
        </p:txBody>
      </p:sp>
      <p:cxnSp>
        <p:nvCxnSpPr>
          <p:cNvPr id="47" name=""/>
          <p:cNvCxnSpPr/>
          <p:nvPr/>
        </p:nvCxnSpPr>
        <p:spPr>
          <a:xfrm xmlns:a="http://schemas.openxmlformats.org/drawingml/2006/main">
            <a:off x="9829800" y="2971800"/>
            <a:ext cx="3048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38B92A-03C0-4571-8DC5-167C3FCC4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76225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09AB2A-D81C-4999-9A11-A850895D5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3337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MONITOR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08A918-F095-4EAF-BF84-B79D336DB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848100"/>
            <a:ext cx="1809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Track obligations, actuals, renewal and amendments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548B12-589A-4051-9E7C-2F8FC89A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334000"/>
            <a:ext cx="113919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BFADFB-40A7-49BD-AC18-C022C12C7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5816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Minimum contract data quality gate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258424-05B4-42CA-BF38-E656BDF4F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0388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9092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Account and entity match • accepted terms • contract dates • currency • products • recurring value • obligations • source quote version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D569F4-820A-4700-9B74-D81606259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71532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Flywire future-state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116541237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1" name="Rectangle 20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Rectangle 19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9" name="Rectangle 18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Rectangle 17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932C60-FB39-4DC4-A31A-EB93168AD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02870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IMPLEMENTATION BLUEPRINT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68A5DC-776B-4142-A96B-FC68E2986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314450"/>
            <a:ext cx="11315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5157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Execution services preserve traceability through contract activation</a:t>
            </a:r>
          </a:p>
        </p:txBody>
      </p:sp>
      <p:cxnSp>
        <p:nvCxnSpPr>
          <p:cNvPr id="15" name=""/>
          <p:cNvCxnSpPr/>
          <p:nvPr/>
        </p:nvCxnSpPr>
        <p:spPr>
          <a:xfrm xmlns:a="http://schemas.openxmlformats.org/drawingml/2006/main">
            <a:off x="1162050" y="22479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E88DCB-4AEE-472D-B2FE-B81AB4316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7143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b4e831fb1b4368"/>
          <a:stretch xmlns:a="http://schemas.openxmlformats.org/drawingml/2006/main"/>
        </p:blipFill>
        <p:spPr>
          <a:xfrm xmlns:a="http://schemas.openxmlformats.org/drawingml/2006/main">
            <a:off x="3350404" y="2362200"/>
            <a:ext cx="7015192" cy="3333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E76690-ABEE-43A9-BAE8-DE40249B1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8674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Generate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A80CAB-3218-46C6-93AA-02F610143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22935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Proposal and signature are tied to one quote version.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780530-BCBD-4747-94A2-5B1F6960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8674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Handoff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6D58D2-CE53-4108-A183-1910E9470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22935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Contract and integration events carry stable correlation identifiers.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A8203F-00F6-4C94-BF4F-059BFBA9E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8674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Reconcile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D7A433-8489-49C0-A06A-770B8AD5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22935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Financial actuals are matched back to contracted metrics.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C135A1-C079-47CF-A782-FBE80AF8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71532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Flywire future-state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128743467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71" name="Rectangle 70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0" name="Rectangle 69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69" name="Rectangle 68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68" name="Rectangle 67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9627C91-FCB0-4D1D-B080-E31BDAD6A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02870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IMPLEMENTATION BLUEPRINT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DCE49A-C037-481C-9830-6EE4CC5F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314450"/>
            <a:ext cx="11315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Integration events are idempotent, observable and reconcilable</a:t>
            </a:r>
          </a:p>
        </p:txBody>
      </p:sp>
      <p:cxnSp>
        <p:nvCxnSpPr>
          <p:cNvPr id="37" name=""/>
          <p:cNvCxnSpPr/>
          <p:nvPr/>
        </p:nvCxnSpPr>
        <p:spPr>
          <a:xfrm xmlns:a="http://schemas.openxmlformats.org/drawingml/2006/main">
            <a:off x="1162050" y="22479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43D52C-A6D4-4889-8899-2AED972E6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7143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58E4BF-7922-4CAB-97A9-763CEADF0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00350"/>
            <a:ext cx="1562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4DF5EC-6D44-4F98-9BF6-6D8B80AD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2420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CRM CHANGE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B85019-6D21-4F83-A91A-4F7F20842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124200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6C771B-2481-4A53-8AAA-01458AF7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00350"/>
            <a:ext cx="1562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FC4AC7-8540-45AB-98FF-5DAFB3BD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2420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OUTBOX EVENT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AEE77C-34A0-48B6-8042-96C862B6E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124200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3E265D-0A5E-4D77-80D9-50C12ED7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800350"/>
            <a:ext cx="1562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034F8A-39DE-4E4E-A0E9-96950F057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2420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TRANSFORM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71D32B-A013-4558-80A5-F24E9161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24200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18E776-2140-4258-9210-DD5741555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800350"/>
            <a:ext cx="1562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6A20CE-FAEB-44F7-85EA-1D4BD47F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2420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DELIVER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213B58-392F-4ECB-BF01-D2EB3F98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24200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3487F1-5F1C-4441-8FF8-2D5A57D83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800350"/>
            <a:ext cx="1562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EE5470-B99B-4F11-BAC1-8F2E3222E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2420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27AC75-33B1-4BEE-BCE4-DEC6F928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124200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BF1EE7-8EF0-4561-9F82-52A2D8B08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800350"/>
            <a:ext cx="1562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FEB6BC-0573-4473-8202-1F04300B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12420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RECONCILE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66BB8C-9F15-4FF7-8641-8825DCB21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577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Identity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F1D918-B090-4B19-9E84-E00C0FE60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457700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Correlation ID, source record ID and event version</a:t>
            </a:r>
          </a:p>
        </p:txBody>
      </p:sp>
      <p:cxnSp>
        <p:nvCxnSpPr>
          <p:cNvPr id="58" name=""/>
          <p:cNvCxnSpPr/>
          <p:nvPr/>
        </p:nvCxnSpPr>
        <p:spPr>
          <a:xfrm xmlns:a="http://schemas.openxmlformats.org/drawingml/2006/main">
            <a:off x="1162050" y="5143500"/>
            <a:ext cx="5334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225354-ADA0-4B31-8554-948C45D15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577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Delivery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1B6B44-FAE3-4AC6-AAF8-AF84D326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57700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Idempotency key, retry count and terminal status</a:t>
            </a:r>
          </a:p>
        </p:txBody>
      </p:sp>
      <p:cxnSp>
        <p:nvCxnSpPr>
          <p:cNvPr id="61" name=""/>
          <p:cNvCxnSpPr/>
          <p:nvPr/>
        </p:nvCxnSpPr>
        <p:spPr>
          <a:xfrm xmlns:a="http://schemas.openxmlformats.org/drawingml/2006/main">
            <a:off x="6858000" y="5143500"/>
            <a:ext cx="5334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AADCAE-EBB5-4922-B3BA-0A874F16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5816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Contract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3152A4-040D-4519-AD28-697EEE684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581650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Schema version, required fields and validation result</a:t>
            </a:r>
          </a:p>
        </p:txBody>
      </p:sp>
      <p:cxnSp>
        <p:nvCxnSpPr>
          <p:cNvPr id="64" name=""/>
          <p:cNvCxnSpPr/>
          <p:nvPr/>
        </p:nvCxnSpPr>
        <p:spPr>
          <a:xfrm xmlns:a="http://schemas.openxmlformats.org/drawingml/2006/main">
            <a:off x="1162050" y="6267450"/>
            <a:ext cx="5334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DAC736-993D-4EBC-A05B-4A9B3A743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5816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CD2506-0348-48E6-ADDD-CA0C5F294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581650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Payload hash, timestamp, actor and response reference</a:t>
            </a:r>
          </a:p>
        </p:txBody>
      </p:sp>
      <p:cxnSp>
        <p:nvCxnSpPr>
          <p:cNvPr id="67" name=""/>
          <p:cNvCxnSpPr/>
          <p:nvPr/>
        </p:nvCxnSpPr>
        <p:spPr>
          <a:xfrm xmlns:a="http://schemas.openxmlformats.org/drawingml/2006/main">
            <a:off x="6858000" y="6267450"/>
            <a:ext cx="5334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24CA7B-1AF9-4B2D-9E78-A353662E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71532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Flywire future-state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139695306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30" name="Rectangle 29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9" name="Rectangle 28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8" name="Rectangle 27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7" name="Rectangle 26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E35BCC-006F-4A9E-90EC-F6189C92F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02870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IMPLEMENTATION BLUEPRINT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8B3624-AB07-463F-A516-5BEFE914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314450"/>
            <a:ext cx="11315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Security and governance are built into every state transition</a:t>
            </a:r>
          </a:p>
        </p:txBody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1162050" y="22479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2CE117-57D4-485F-9D7D-E9FADA33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7143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A5E252-5B07-43B9-A677-381821A0F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2890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A156F7-8F39-4C97-8D8C-056BCA0BB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623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ACCESS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9CFF32-8089-4E9A-84FE-520353B5A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14750"/>
            <a:ext cx="1809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Persona-based permissions</a:t>
            </a:r>
          </a:p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Least privilege</a:t>
            </a:r>
          </a:p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Segregation of duties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AAB2AC-2928-4BEF-8AD5-F8BA8A7A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2890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8C6FA3-1D9A-49F0-8489-3D80A49D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623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8C4F06-5748-4E6C-AB26-D3475855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14750"/>
            <a:ext cx="1809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Field classification</a:t>
            </a:r>
          </a:p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Encryption and retention</a:t>
            </a:r>
          </a:p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Golden-record stewardship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000203-369C-4352-8BED-49C7ACF7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62890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1D84D0-17C5-4D12-B1C0-AE6A2637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1623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PROCESS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4E66C8-2E83-48B8-91EA-A800AAA83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714750"/>
            <a:ext cx="1809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State-based edit locks</a:t>
            </a:r>
          </a:p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Approval authority</a:t>
            </a:r>
          </a:p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Controlled amendments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7C1F70-705B-4899-B5AA-FFEC2961F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2890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1B55EE-5E2D-4789-8BF3-D76BAC92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1623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INTEGRATION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63BD26-1D4A-4A41-81F2-27D96785F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714750"/>
            <a:ext cx="1809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Named authentication</a:t>
            </a:r>
          </a:p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Schema validation</a:t>
            </a:r>
          </a:p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Replay protection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C53867-9C18-4F1C-8705-B477F3120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62890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57763A-B188-432A-8E66-348DAFDCD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1623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AUDIT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A209A8-BCA2-4717-AA6D-B071B527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714750"/>
            <a:ext cx="1809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Decision reasons</a:t>
            </a:r>
          </a:p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Payload hashes</a:t>
            </a:r>
          </a:p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Correlation and lineage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E2232C-A2F5-4E5B-8D17-CFA3851D6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372100"/>
            <a:ext cx="113919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1E84EF-7498-4C3A-BC05-FB6BB08D1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6007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Release governance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5E8913-E7BE-4F85-ABEA-E628E50AA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03885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4053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One source repository • isolated capability packages • automated tests • check-only validation • business UAT • controlled activation • rollback evidence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C8ABF7-76E0-4D07-B74E-71658F278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71532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Flywire future-state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55081382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47" name="Rectangle 46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6" name="Rectangle 45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5" name="Rectangle 44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4" name="Rectangle 43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2B44B64-37C9-4CFB-9C69-33470DF9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02870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IMPLEMENTATION BLUEPRINT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C69107-264B-4F98-807B-FBB63EB2D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314450"/>
            <a:ext cx="11315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544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Salesforce implementation components align directly to business capabilities</a:t>
            </a:r>
          </a:p>
        </p:txBody>
      </p:sp>
      <p:cxnSp>
        <p:nvCxnSpPr>
          <p:cNvPr id="43" name=""/>
          <p:cNvCxnSpPr/>
          <p:nvPr/>
        </p:nvCxnSpPr>
        <p:spPr>
          <a:xfrm xmlns:a="http://schemas.openxmlformats.org/drawingml/2006/main">
            <a:off x="1162050" y="22479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AB3F54-265A-4443-A83E-C7298A367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7143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1D8A25-37AD-4255-8F37-CF4897443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38400"/>
            <a:ext cx="1962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CAPABILITY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541832-B583-450F-86AD-C54A438EC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4384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CONFIGURATION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D15657-F2EC-4A74-AF05-2FB315F9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38400"/>
            <a:ext cx="3276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SERVICE / AUTOMATION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E950D4-0AA7-4825-AC90-13C20BA5E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38400"/>
            <a:ext cx="320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9942EC-4308-4C9F-86FE-83A717B7D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57500"/>
            <a:ext cx="113919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39C69C-A2E3-423D-9779-29D84E273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337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9532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Customer foundation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589891-48C5-4391-94BA-3194C0584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933700"/>
            <a:ext cx="2514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Match rules, hierarchy fields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B4C1D-D982-42AF-89ED-CF8ED5714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933700"/>
            <a:ext cx="312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Account identity service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E297EE-B58C-4150-BCA1-7DC5BF453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337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Duplicate and hierarchy reports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7E23A8-F822-4B1E-B38B-8B12CE502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05200"/>
            <a:ext cx="113919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4DEAF6-608A-448A-9801-F7451D7A7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814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Product &amp; pricing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935FB6-8A32-4C14-85E4-253527458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581400"/>
            <a:ext cx="2514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Catalogue, price books, pricing rules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68A69E-E413-4F3E-9543-944B8A53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581400"/>
            <a:ext cx="312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Pricing and schedule service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476BF1-AE74-4B3F-9E93-C6254ADA3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5814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Rule-version calculation log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19D85E-3D62-4257-A586-E44A63FEA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52900"/>
            <a:ext cx="113919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652559-9871-496A-ABCF-59A9D1807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291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Quote approval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40205A-3C86-4EDE-8065-B5797C1E5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229100"/>
            <a:ext cx="2514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Approval rule metadata, personas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7FA281-F3AB-4624-9C61-96FF1EA3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229100"/>
            <a:ext cx="312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Decision, lifecycle and lock services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82AD46-6751-459D-AB4E-B8CFE4E00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2291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Approval request, steps and reasons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C46D3F-2E49-4F94-9B33-B55E9C9B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00600"/>
            <a:ext cx="113919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DD69D4-C439-41A0-92D6-B3B14466E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768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Proposal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1E8116-313F-4F08-B2F0-EA03B93C8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876800"/>
            <a:ext cx="2514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Template and schema versions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29671A-ED18-4101-8F9F-7D6104059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876800"/>
            <a:ext cx="312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Document generation service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7681A1-88E1-4548-A79C-1687E307F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8768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Document reference and content hash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EBC839-42B6-4AB9-B3AD-9451A14D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448300"/>
            <a:ext cx="113919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1C6847-D6CF-4DC9-94B4-496C64473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245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Contract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576B98-9466-4335-B66A-692BBD9C2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524500"/>
            <a:ext cx="2514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Contract types, obligations, clauses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DD8828B-01B0-47CC-8509-7E06E04AF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524500"/>
            <a:ext cx="312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Contract handoff service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9A1E0EB-1367-4484-B4AC-F438D1D65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5245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Quote-to-contract lineage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28B211-08B3-46C7-968E-5A577C90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096000"/>
            <a:ext cx="113919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4AE8172-7F44-4992-A3D0-32DDA58EF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1722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Integration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92BEB19-A935-4806-95C5-F61B9649F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6172200"/>
            <a:ext cx="2514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Endpoint and event configuration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FB50BEB-11EB-4844-8D7A-F942363C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6172200"/>
            <a:ext cx="312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Publisher, retry and reconciliation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1EB3D9D-C116-48A6-A0D0-31C006054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1722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Delivery receipt and variance result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C3EA340-0B5B-4843-8D10-66CB5BDC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67818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392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Naming standard: capability + responsibility. Legacy organization-specific names are not carried forward.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EB79C23-9360-4F69-9D5D-D87398B08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71532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Flywire future-state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103673334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33" name="Rectangle 32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2" name="Rectangle 31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1" name="Rectangle 30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0" name="Rectangle 29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274ED9-19B1-442B-B686-33AC5D3B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02870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IMPLEMENTATION BLUEPRINT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0DC3D2-912D-4CB3-B198-1381F40FC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314450"/>
            <a:ext cx="11315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414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Delivery moves from evidence to pilot to scalable operating model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1162050" y="22479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E4FC65-EB90-479C-BD90-213839A93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7143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1504950" y="4076700"/>
            <a:ext cx="1038225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4466F1-A7BE-4E96-B264-A69152DF5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9814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414442-515C-4B6A-B8A1-09C486AC9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762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0–6 WEEKS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7C9F8A-687B-469F-8CA2-29BFAC720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2194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DESIGN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1B165F-FE89-4B3E-9BF4-5F4B78269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476750"/>
            <a:ext cx="22098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Confirm process, data definitions, ownership, rules, vendor boundaries and acceptance criteria.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82E9E1-74BA-48F2-BD0C-3B3E2660F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814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612634-9E96-4F9D-855E-30953CEB1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762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7–16 WEEKS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236574-1231-47F2-84E6-31C9567A5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2194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PILOT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88EBE8-A4B0-4EE5-B190-5A2BBFD70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476750"/>
            <a:ext cx="22098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Build evaluation-only approval, metric engine, controlled proposal and one integration path.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1B4803-EB5B-4FD5-9675-B4F5345B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814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067F61-E000-4126-B35E-F6A80109B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62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4–8 MONTHS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44A3DD-14FA-4E4E-BE76-1280E124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194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SCALE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20D40F-EF52-455D-ABE0-1BED20AF0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76750"/>
            <a:ext cx="22098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Enable approval lifecycle, contract handoff, reconciliation and broader product/entity coverage.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8486CF-072A-4104-8454-004147518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9814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09A60B-0C70-4E27-8DFC-FFB87AB6A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62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8–12 MONTHS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22CA3B-5C9F-4F86-B33A-32715F435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2194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CONSOLIDATE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3F8781-6FAE-4D1A-90B8-55E499D3D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476750"/>
            <a:ext cx="22098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Migrate remaining users/data, rationalize integrations and establish one release model.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C21F60-D607-48DC-8B29-757651EA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229350"/>
            <a:ext cx="11391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060CB7-DBBF-4F3A-A454-014CBAD10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6438900"/>
            <a:ext cx="1101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Pilot success gate: explainable approvals + stable metrics + approved document + acknowledged downstream handoff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B69DB8-9747-4037-96E3-167B93E4C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71532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Flywire future-state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158184051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61" name="Rectangle 60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60" name="Rectangle 59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9" name="Rectangle 58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8" name="Rectangle 57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850254-A0AB-4868-A65A-4556EB4E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02870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IMPLEMENTATION BLUEPRINT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4BB779-9752-4A9B-89ED-3EA8C329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314450"/>
            <a:ext cx="11315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544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Quality gates prove data, logic and integration integrity before activation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1162050" y="22479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373CE6-D896-4314-8B40-259A0C812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7143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542245-C129-4D9A-986C-DBB958886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574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A0A251-AAEA-4B73-8729-9BFCD0C6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4574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F867E7-CA93-4624-99A3-C8DE39BFF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857500"/>
            <a:ext cx="447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Required entities, keys, ownership and lifecycle states are approved.</a:t>
            </a:r>
          </a:p>
        </p:txBody>
      </p:sp>
      <p:cxnSp>
        <p:nvCxnSpPr>
          <p:cNvPr id="37" name=""/>
          <p:cNvCxnSpPr/>
          <p:nvPr/>
        </p:nvCxnSpPr>
        <p:spPr>
          <a:xfrm xmlns:a="http://schemas.openxmlformats.org/drawingml/2006/main">
            <a:off x="1162050" y="3562350"/>
            <a:ext cx="52387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09AD69-DF89-4720-BCA1-86BEC0A1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574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814863-7D5F-40E4-8739-CF2126A3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4574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RULES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BB00FF-2D0D-4590-B194-DB357127E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857500"/>
            <a:ext cx="447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Boundary values, overlaps, missing approvers and effective dates are tested.</a:t>
            </a:r>
          </a:p>
        </p:txBody>
      </p:sp>
      <p:cxnSp>
        <p:nvCxnSpPr>
          <p:cNvPr id="41" name=""/>
          <p:cNvCxnSpPr/>
          <p:nvPr/>
        </p:nvCxnSpPr>
        <p:spPr>
          <a:xfrm xmlns:a="http://schemas.openxmlformats.org/drawingml/2006/main">
            <a:off x="6858000" y="3562350"/>
            <a:ext cx="52387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062066-6956-4DC5-8AE7-97FADBA6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481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6B9536-E320-467F-AE1C-2A68E379F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8481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METRICS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64CCCE-E120-465C-8677-4FA0E5E2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248150"/>
            <a:ext cx="447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ARR, MRR, TCV and one-time revenue reconcile across test scenarios.</a:t>
            </a:r>
          </a:p>
        </p:txBody>
      </p:sp>
      <p:cxnSp>
        <p:nvCxnSpPr>
          <p:cNvPr id="45" name=""/>
          <p:cNvCxnSpPr/>
          <p:nvPr/>
        </p:nvCxnSpPr>
        <p:spPr>
          <a:xfrm xmlns:a="http://schemas.openxmlformats.org/drawingml/2006/main">
            <a:off x="1162050" y="4953000"/>
            <a:ext cx="52387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CDF239-F9E9-4AF1-BCA9-4DD3FA30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481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FC2E9E-7A7D-4565-A837-EF4435048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8481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SECURITY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C4D3CB-AA5B-4E47-B018-80C890B2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248150"/>
            <a:ext cx="447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Personas can perform only authorized actions in each state.</a:t>
            </a:r>
          </a:p>
        </p:txBody>
      </p:sp>
      <p:cxnSp>
        <p:nvCxnSpPr>
          <p:cNvPr id="49" name=""/>
          <p:cNvCxnSpPr/>
          <p:nvPr/>
        </p:nvCxnSpPr>
        <p:spPr>
          <a:xfrm xmlns:a="http://schemas.openxmlformats.org/drawingml/2006/main">
            <a:off x="6858000" y="4953000"/>
            <a:ext cx="52387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6E43FF-364B-4B7D-93E8-F005FC9CC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38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AEEBA4-D11A-4F57-9B4A-B9CAA225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2387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INTEGRATION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782F62-E100-4429-B10F-73B971B95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638800"/>
            <a:ext cx="447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Retry, duplicate delivery, schema failure and acknowledgement paths are proven.</a:t>
            </a:r>
          </a:p>
        </p:txBody>
      </p:sp>
      <p:cxnSp>
        <p:nvCxnSpPr>
          <p:cNvPr id="53" name=""/>
          <p:cNvCxnSpPr/>
          <p:nvPr/>
        </p:nvCxnSpPr>
        <p:spPr>
          <a:xfrm xmlns:a="http://schemas.openxmlformats.org/drawingml/2006/main">
            <a:off x="1162050" y="6343650"/>
            <a:ext cx="52387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D58B0D-CCCB-427D-B6D6-CAB9013BA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2387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36BE32-770D-45D0-A9BC-CDD4BC327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2387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BUSINESS UAT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76111C-ACF3-402D-99EF-E992F545A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638800"/>
            <a:ext cx="447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Sales, deal desk, legal, finance and operations accept end-to-end outcomes.</a:t>
            </a:r>
          </a:p>
        </p:txBody>
      </p:sp>
      <p:cxnSp>
        <p:nvCxnSpPr>
          <p:cNvPr id="57" name=""/>
          <p:cNvCxnSpPr/>
          <p:nvPr/>
        </p:nvCxnSpPr>
        <p:spPr>
          <a:xfrm xmlns:a="http://schemas.openxmlformats.org/drawingml/2006/main">
            <a:off x="6858000" y="6343650"/>
            <a:ext cx="523875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C9A28E-3388-45DE-9702-F73C399D9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71532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Flywire future-state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34386302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7" name="Rectangle 26"/>
          <p:cNvSpPr/>
          <p:nvPr/>
        </p:nvSpPr>
        <p:spPr>
          <a:xfrm>
            <a:off x="0" y="762000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6" name="Rectangle 25"/>
          <p:cNvSpPr/>
          <p:nvPr/>
        </p:nvSpPr>
        <p:spPr>
          <a:xfrm>
            <a:off x="0" y="0"/>
            <a:ext cx="13716000" cy="76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5" name="Rectangle 24"/>
          <p:cNvSpPr/>
          <p:nvPr/>
        </p:nvSpPr>
        <p:spPr>
          <a:xfrm>
            <a:off x="1295400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4" name="Rectangle 23"/>
          <p:cNvSpPr/>
          <p:nvPr/>
        </p:nvSpPr>
        <p:spPr>
          <a:xfrm>
            <a:off x="0" y="0"/>
            <a:ext cx="762000" cy="838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D58B9B-F05E-4949-8A5B-A31E8B29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02870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IMPLEMENTATION BLUEPRINT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1E6F16-37F4-42CF-8211-E94D86DD1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314450"/>
            <a:ext cx="11315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2544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first 30 days convert this blueprint into an approved implementation backlog</a:t>
            </a:r>
          </a:p>
        </p:txBody>
      </p:sp>
      <p:cxnSp>
        <p:nvCxnSpPr>
          <p:cNvPr id="23" name=""/>
          <p:cNvCxnSpPr/>
          <p:nvPr/>
        </p:nvCxnSpPr>
        <p:spPr>
          <a:xfrm xmlns:a="http://schemas.openxmlformats.org/drawingml/2006/main">
            <a:off x="1162050" y="2247900"/>
            <a:ext cx="113919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5EA0FB-F8BD-4F4E-9B0F-49AE19DD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7143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1FAE54-3365-4145-9817-9DCD9A86C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098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WEEK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BD19A9-1ECC-4280-9C8D-ED49317F7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8610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Confirm ownership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BE1C2D-3319-43C6-8D9F-C9F84E589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67150"/>
            <a:ext cx="2381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Name accountable owners for customer, product, quote, contract, integration and metrics.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61FD2C-39A9-49CB-95C0-CBA43C80C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098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WEEK 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0EF811-9C94-47A9-9EF0-FC77A223F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8610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Validate the model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6A2692-7D22-4C56-97DB-F8D1B5F1C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867150"/>
            <a:ext cx="2381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Map existing fields and records to the canonical model; identify duplicates and gaps.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49BDB7-4815-40AB-8432-3D9422DF9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6098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WEEK 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DCAAB5-23AA-4EF4-9116-15FE350C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08610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Define pilot rules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BA2D66-69DA-488D-A9DE-0DA6283FE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67150"/>
            <a:ext cx="2381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Select approval, pricing, metric and document scenarios for the first controlled pilot.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8BEE60-CCC2-4D1F-B7C0-7792261F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6098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WEEK 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3811AA-77F6-4455-965B-2F7376A19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08610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7169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Approve the backlog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A090F7-8F01-4B3A-BB6C-AA0D24E4A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867150"/>
            <a:ext cx="2381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Agree components, acceptance criteria, test data, release gates and decision log.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CFBA86-3CEA-49BC-82B1-8DE50E4D2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581650"/>
            <a:ext cx="113919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489C6D-FB9C-4C9B-B040-7073BB2D2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905500"/>
            <a:ext cx="371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Decisions required from the team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B88B5B-60E4-4FAC-877E-034CBECB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88645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Pilot segment • source-of-truth owners • approval personas • metric definitions • contract boundary • integration priority • success measures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01E466-2BBF-4F9F-AA7B-68B47853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715327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B6573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B6573"/>
                </a:solidFill>
                <a:latin typeface="Arial"/>
                <a:ea typeface="Arial"/>
                <a:cs typeface="Arial"/>
              </a:rPr>
              <a:t>Flywire future-state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3777256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2026-08-21T22:09:27.3370000Z</dcterms:created>
  <dcterms:modified xsi:type="dcterms:W3CDTF">2026-08-21T22:09:27.3370000Z</dcterms:modified>
</coreProperties>
</file>
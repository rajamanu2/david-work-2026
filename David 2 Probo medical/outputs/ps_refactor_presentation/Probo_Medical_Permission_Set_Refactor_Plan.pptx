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bdc2e5912f40cf" /><Relationship Type="http://schemas.openxmlformats.org/officeDocument/2006/relationships/extended-properties" Target="/docProps/app.xml" Id="Re2727342eeef43ce" /><Relationship Type="http://schemas.openxmlformats.org/officeDocument/2006/relationships/officeDocument" Target="/ppt/presentation.xml" Id="R0f0bd317f28742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3b293a12904c56"/>
  </p:sldMasterIdLst>
  <p:notesMasterIdLst>
    <p:notesMasterId xmlns:r="http://schemas.openxmlformats.org/officeDocument/2006/relationships" r:id="R69b53349743549e4"/>
  </p:notesMasterIdLst>
  <p:sldIdLst>
    <p:sldId xmlns:r="http://schemas.openxmlformats.org/officeDocument/2006/relationships" id="256" r:id="Rbb24e6cf7f154e63"/>
    <p:sldId xmlns:r="http://schemas.openxmlformats.org/officeDocument/2006/relationships" id="257" r:id="R60538627f10d4aab"/>
    <p:sldId xmlns:r="http://schemas.openxmlformats.org/officeDocument/2006/relationships" id="258" r:id="R10ef60e37e82476d"/>
    <p:sldId xmlns:r="http://schemas.openxmlformats.org/officeDocument/2006/relationships" id="259" r:id="R1c0cf61d43e941ec"/>
    <p:sldId xmlns:r="http://schemas.openxmlformats.org/officeDocument/2006/relationships" id="260" r:id="Rc1f9197dd4b74dba"/>
    <p:sldId xmlns:r="http://schemas.openxmlformats.org/officeDocument/2006/relationships" id="261" r:id="Rc691f63ea90f4bb7"/>
    <p:sldId xmlns:r="http://schemas.openxmlformats.org/officeDocument/2006/relationships" id="262" r:id="R79ebf6038f9944ec"/>
    <p:sldId xmlns:r="http://schemas.openxmlformats.org/officeDocument/2006/relationships" id="263" r:id="R590550ff89044633"/>
    <p:sldId xmlns:r="http://schemas.openxmlformats.org/officeDocument/2006/relationships" id="264" r:id="R39d0c21dada2436f"/>
    <p:sldId xmlns:r="http://schemas.openxmlformats.org/officeDocument/2006/relationships" id="265" r:id="R7780947b3df04a09"/>
    <p:sldId xmlns:r="http://schemas.openxmlformats.org/officeDocument/2006/relationships" id="266" r:id="R7a3a0481faf947dd"/>
    <p:sldId xmlns:r="http://schemas.openxmlformats.org/officeDocument/2006/relationships" id="267" r:id="R543d49df5d1c45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2147d22ed74d56" /><Relationship Type="http://schemas.openxmlformats.org/officeDocument/2006/relationships/slideMaster" Target="/ppt/slideMasters/slideMaster1.xml" Id="R273b293a12904c56" /><Relationship Type="http://schemas.openxmlformats.org/officeDocument/2006/relationships/notesMaster" Target="/ppt/notesMasters/notesMaster1.xml" Id="R69b53349743549e4" /><Relationship Type="http://schemas.openxmlformats.org/officeDocument/2006/relationships/presProps" Target="/ppt/presProps.xml" Id="Rea3f26ee5a524f99" /><Relationship Type="http://schemas.openxmlformats.org/officeDocument/2006/relationships/tableStyles" Target="/ppt/tableStyles.xml" Id="R530aca940d284f5f" /><Relationship Type="http://schemas.openxmlformats.org/officeDocument/2006/relationships/slide" Target="/ppt/slides/slide1.xml" Id="Rbb24e6cf7f154e63" /><Relationship Type="http://schemas.openxmlformats.org/officeDocument/2006/relationships/slide" Target="/ppt/slides/slide2.xml" Id="R60538627f10d4aab" /><Relationship Type="http://schemas.openxmlformats.org/officeDocument/2006/relationships/slide" Target="/ppt/slides/slide3.xml" Id="R10ef60e37e82476d" /><Relationship Type="http://schemas.openxmlformats.org/officeDocument/2006/relationships/slide" Target="/ppt/slides/slide4.xml" Id="R1c0cf61d43e941ec" /><Relationship Type="http://schemas.openxmlformats.org/officeDocument/2006/relationships/slide" Target="/ppt/slides/slide5.xml" Id="Rc1f9197dd4b74dba" /><Relationship Type="http://schemas.openxmlformats.org/officeDocument/2006/relationships/slide" Target="/ppt/slides/slide6.xml" Id="Rc691f63ea90f4bb7" /><Relationship Type="http://schemas.openxmlformats.org/officeDocument/2006/relationships/slide" Target="/ppt/slides/slide7.xml" Id="R79ebf6038f9944ec" /><Relationship Type="http://schemas.openxmlformats.org/officeDocument/2006/relationships/slide" Target="/ppt/slides/slide8.xml" Id="R590550ff89044633" /><Relationship Type="http://schemas.openxmlformats.org/officeDocument/2006/relationships/slide" Target="/ppt/slides/slide9.xml" Id="R39d0c21dada2436f" /><Relationship Type="http://schemas.openxmlformats.org/officeDocument/2006/relationships/slide" Target="/ppt/slides/slide10.xml" Id="R7780947b3df04a09" /><Relationship Type="http://schemas.openxmlformats.org/officeDocument/2006/relationships/slide" Target="/ppt/slides/slide11.xml" Id="R7a3a0481faf947dd" /><Relationship Type="http://schemas.openxmlformats.org/officeDocument/2006/relationships/slide" Target="/ppt/slides/slide12.xml" Id="R543d49df5d1c45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c9bb46bd6a4d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c61b108c74496a" /><Relationship Type="http://schemas.openxmlformats.org/officeDocument/2006/relationships/notesMaster" Target="/ppt/notesMasters/notesMaster1.xml" Id="R6b3c29498fb54f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c4a7a8b7a340df" /><Relationship Type="http://schemas.openxmlformats.org/officeDocument/2006/relationships/notesMaster" Target="/ppt/notesMasters/notesMaster1.xml" Id="R5e28e7db89a146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8f56c1393b4a8f" /><Relationship Type="http://schemas.openxmlformats.org/officeDocument/2006/relationships/notesMaster" Target="/ppt/notesMasters/notesMaster1.xml" Id="Rb7ea4500ef6a43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0a767a071547a2" /><Relationship Type="http://schemas.openxmlformats.org/officeDocument/2006/relationships/notesMaster" Target="/ppt/notesMasters/notesMaster1.xml" Id="R7a29777f136f48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bfaf1ad3e24d94" /><Relationship Type="http://schemas.openxmlformats.org/officeDocument/2006/relationships/notesMaster" Target="/ppt/notesMasters/notesMaster1.xml" Id="Rfcd7f5cc9e2747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acd27a8f4b4813" /><Relationship Type="http://schemas.openxmlformats.org/officeDocument/2006/relationships/notesMaster" Target="/ppt/notesMasters/notesMaster1.xml" Id="R280bc78cf39a4f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5132451e0c4013" /><Relationship Type="http://schemas.openxmlformats.org/officeDocument/2006/relationships/notesMaster" Target="/ppt/notesMasters/notesMaster1.xml" Id="R7ccfcfa12b7945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74c5d2ab6d484d" /><Relationship Type="http://schemas.openxmlformats.org/officeDocument/2006/relationships/notesMaster" Target="/ppt/notesMasters/notesMaster1.xml" Id="R1442b6a218544c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5bfb7b5ba04364" /><Relationship Type="http://schemas.openxmlformats.org/officeDocument/2006/relationships/notesMaster" Target="/ppt/notesMasters/notesMaster1.xml" Id="R71f63e04daa644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80cf3749a54895" /><Relationship Type="http://schemas.openxmlformats.org/officeDocument/2006/relationships/notesMaster" Target="/ppt/notesMasters/notesMaster1.xml" Id="Rb65b0faa9ec14a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6ea0286d1b44ca" /><Relationship Type="http://schemas.openxmlformats.org/officeDocument/2006/relationships/notesMaster" Target="/ppt/notesMasters/notesMaster1.xml" Id="R265ebecf245f42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ff10f69cd04036" /><Relationship Type="http://schemas.openxmlformats.org/officeDocument/2006/relationships/notesMaster" Target="/ppt/notesMasters/notesMaster1.xml" Id="R4a17bc83307048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this as an access cleanup and governance discussion, not a blame discussion.</a:t>
            </a:r>
          </a:p>
          <a:p xmlns:a="http://schemas.openxmlformats.org/drawingml/2006/main">
            <a:r>
              <a:t>The data shows current direct Permission Set assignment patterns and where to focus refactoring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ProboMedical Salesforce PermissionSetAssignment export generated during this workspace session.</a:t>
            </a:r>
          </a:p>
          <a:p xmlns:a="http://schemas.openxmlformats.org/drawingml/2006/main">
            <a:r>
              <a:t>Updated workbook: outputs/book_v2_direct_permission_sets/Book v2 - with Direct Permission Sets.xlsx.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headline: the organization now has measurable access evidence.</a:t>
            </a:r>
          </a:p>
          <a:p xmlns:a="http://schemas.openxmlformats.org/drawingml/2006/main">
            <a:r>
              <a:t>High-risk direct access means a direct Permission Set assignment grants Modify All Data, View All Data, or similarly elevated access in the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ProboMedical Salesforce PermissionSetAssignment export generated during this workspace session.</a:t>
            </a:r>
          </a:p>
          <a:p xmlns:a="http://schemas.openxmlformats.org/drawingml/2006/main">
            <a:r>
              <a:t>Updated workbook: outputs/book_v2_direct_permission_sets/Book v2 - with Direct Permission Sets.xlsx.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sheets one by one. Sheet 1 is the executive lookup. Sheet 2 is the assignment proof. Sheet 3 is the control detail used to understand what each Permission Set grants.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ProboMedical Salesforce PermissionSetAssignment export generated during this workspace session.</a:t>
            </a:r>
          </a:p>
          <a:p xmlns:a="http://schemas.openxmlformats.org/drawingml/2006/main">
            <a:r>
              <a:t>Updated workbook: outputs/book_v2_direct_permission_sets/Book v2 - with Direct Permission Sets.xlsx.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access concentration story. The top users have a large number of direct Permission Sets, which makes their access difficult to reason about.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ProboMedical Salesforce PermissionSetAssignment export generated during this workspace session.</a:t>
            </a:r>
          </a:p>
          <a:p xmlns:a="http://schemas.openxmlformats.org/drawingml/2006/main">
            <a:r>
              <a:t>Updated workbook: outputs/book_v2_direct_permission_sets/Book v2 - with Direct Permission Sets.xlsx.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High-risk review can begin immediately because the number of users is manageable compared with the full assignment set.</a:t>
            </a:r>
          </a:p>
          <a:p xmlns:a="http://schemas.openxmlformats.org/drawingml/2006/main">
            <a:r>
              <a:t>Waive MFA deserves special attention because it intersects with the current Salesforce access/MFA issue.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ProboMedical Salesforce PermissionSetAssignment export generated during this workspace session.</a:t>
            </a:r>
          </a:p>
          <a:p xmlns:a="http://schemas.openxmlformats.org/drawingml/2006/main">
            <a:r>
              <a:t>Updated workbook: outputs/book_v2_direct_permission_sets/Book v2 - with Direct Permission Sets.xlsx.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shifts from risk to opportunity. Broadly used Permission Sets may be legitimate, but the assignment model should be governed.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ProboMedical Salesforce PermissionSetAssignment export generated during this workspace session.</a:t>
            </a:r>
          </a:p>
          <a:p xmlns:a="http://schemas.openxmlformats.org/drawingml/2006/main">
            <a:r>
              <a:t>Updated workbook: outputs/book_v2_direct_permission_sets/Book v2 - with Direct Permission Sets.xlsx.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direct assignment is not automatically wrong. The problem is when normal access, job access, and risky exceptions are all managed the same 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ProboMedical Salesforce PermissionSetAssignment export generated during this workspace session.</a:t>
            </a:r>
          </a:p>
          <a:p xmlns:a="http://schemas.openxmlformats.org/drawingml/2006/main">
            <a:r>
              <a:t>Updated workbook: outputs/book_v2_direct_permission_sets/Book v2 - with Direct Permission Sets.xlsx.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target-state class diagram. Keep it simple: profile is baseline, Permission Set Groups are job bundles, direct add-ons are limited, exceptions are controlled.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ProboMedical Salesforce PermissionSetAssignment export generated during this workspace session.</a:t>
            </a:r>
          </a:p>
          <a:p xmlns:a="http://schemas.openxmlformats.org/drawingml/2006/main">
            <a:r>
              <a:t>Updated workbook: outputs/book_v2_direct_permission_sets/Book v2 - with Direct Permission Sets.xlsx.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 sequencing: do not migrate everyone at once. Start with evidence and high-risk review, then pilot a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ProboMedical Salesforce PermissionSetAssignment export generated during this workspace session.</a:t>
            </a:r>
          </a:p>
          <a:p xmlns:a="http://schemas.openxmlformats.org/drawingml/2006/main">
            <a:r>
              <a:t>Updated workbook: outputs/book_v2_direct_permission_sets/Book v2 - with Direct Permission Sets.xlsx.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gives the boss decision criteria. These rules can become the access governance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ProboMedical Salesforce PermissionSetAssignment export generated during this workspace session.</a:t>
            </a:r>
          </a:p>
          <a:p xmlns:a="http://schemas.openxmlformats.org/drawingml/2006/main">
            <a:r>
              <a:t>Updated workbook: outputs/book_v2_direct_permission_sets/Book v2 - with Direct Permission Sets.xlsx.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implementation path. The first month is not about perfection; it is about control and prioritization.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ProboMedical Salesforce PermissionSetAssignment export generated during this workspace session.</a:t>
            </a:r>
          </a:p>
          <a:p xmlns:a="http://schemas.openxmlformats.org/drawingml/2006/main">
            <a:r>
              <a:t>Updated workbook: outputs/book_v2_direct_permission_sets/Book v2 - with Direct Permission Sets.xlsx.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clear ask. David should ask for approval to begin the focused refactor and business-owner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ProboMedical Salesforce PermissionSetAssignment export generated during this workspace session.</a:t>
            </a:r>
          </a:p>
          <a:p xmlns:a="http://schemas.openxmlformats.org/drawingml/2006/main">
            <a:r>
              <a:t>Updated workbook: outputs/book_v2_direct_permission_sets/Book v2 - with Direct Permission Sets.xlsx.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cbfa2002124b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3c11d3264f494d" /><Relationship Type="http://schemas.openxmlformats.org/officeDocument/2006/relationships/slideLayout" Target="/ppt/slideLayouts/slideLayout1.xml" Id="Ra3189f9b275040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189f9b275040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4677b91544d0b" /><Relationship Type="http://schemas.openxmlformats.org/officeDocument/2006/relationships/notesSlide" Target="/ppt/notesSlides/notesSlide1.xml" Id="R7cbab94f34e540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c381e91ea479d" /><Relationship Type="http://schemas.openxmlformats.org/officeDocument/2006/relationships/notesSlide" Target="/ppt/notesSlides/notesSlide2.xml" Id="Raa69ca5c36264c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bb2c263474f1c" /><Relationship Type="http://schemas.openxmlformats.org/officeDocument/2006/relationships/notesSlide" Target="/ppt/notesSlides/notesSlide3.xml" Id="R636fb8f64d3b45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061f2077f4257" /><Relationship Type="http://schemas.openxmlformats.org/officeDocument/2006/relationships/notesSlide" Target="/ppt/notesSlides/notesSlide4.xml" Id="Rae21d38de9a445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64565e9054abd" /><Relationship Type="http://schemas.openxmlformats.org/officeDocument/2006/relationships/notesSlide" Target="/ppt/notesSlides/notesSlide5.xml" Id="R017942f860f94b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d6b2f96c94858" /><Relationship Type="http://schemas.openxmlformats.org/officeDocument/2006/relationships/notesSlide" Target="/ppt/notesSlides/notesSlide6.xml" Id="R81960927e4164e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a52826561430c" /><Relationship Type="http://schemas.openxmlformats.org/officeDocument/2006/relationships/notesSlide" Target="/ppt/notesSlides/notesSlide7.xml" Id="R36e7b30ec49f4c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75a038b824370" /><Relationship Type="http://schemas.openxmlformats.org/officeDocument/2006/relationships/notesSlide" Target="/ppt/notesSlides/notesSlide8.xml" Id="R93b1f16edd4a49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65e8d07af493e" /><Relationship Type="http://schemas.openxmlformats.org/officeDocument/2006/relationships/notesSlide" Target="/ppt/notesSlides/notesSlide9.xml" Id="R90d6aeb118de4e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d5fd4d7d94e60" /><Relationship Type="http://schemas.openxmlformats.org/officeDocument/2006/relationships/notesSlide" Target="/ppt/notesSlides/notesSlide10.xml" Id="R6b8bb7a0a2684f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987d170bf4080" /><Relationship Type="http://schemas.openxmlformats.org/officeDocument/2006/relationships/notesSlide" Target="/ppt/notesSlides/notesSlide11.xml" Id="Rce3ea006e23347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da27a080c4c05" /><Relationship Type="http://schemas.openxmlformats.org/officeDocument/2006/relationships/notesSlide" Target="/ppt/notesSlides/notesSlide12.xml" Id="R6da9704077be4a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83355-0DCC-4D2C-BA91-68D2E932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Probo Medical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1A755-5A35-4B24-AB16-89EAD223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Permission Set Refactor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4B8DB-F09D-4A40-A928-6F6F7B71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FE8FF"/>
                </a:solidFill>
              </a:defRPr>
            </a:pPr>
            <a:r>
              <a:rPr sz="1800" b="0">
                <a:solidFill>
                  <a:srgbClr val="CFE8FF"/>
                </a:solidFill>
              </a:rPr>
              <a:t>A practical path to understand current user access, identify over-access, and redesign Salesforce Permission Sets into a controlled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FA0F2-5479-4F43-A1E6-DB496DB6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3"/>
          </a:solidFill>
          <a:ln xmlns:a="http://schemas.openxmlformats.org/drawingml/2006/main" w="19050">
            <a:solidFill>
              <a:srgbClr val="2EAA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28390-01A6-4A57-A400-1CD09156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F0ECB-AD66-4676-92DC-492A0F20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765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7E6FF"/>
                </a:solidFill>
              </a:defRPr>
            </a:pPr>
            <a:r>
              <a:rPr sz="1800" b="1">
                <a:solidFill>
                  <a:srgbClr val="A7E6FF"/>
                </a:solidFill>
              </a:rPr>
              <a:t>Permission</a:t>
            </a:r>
          </a:p>
          <a:p xmlns:a="http://schemas.openxmlformats.org/drawingml/2006/main">
            <a:pPr algn="ctr">
              <a:defRPr sz="1800" b="1">
                <a:solidFill>
                  <a:srgbClr val="A7E6FF"/>
                </a:solidFill>
              </a:defRPr>
            </a:pPr>
            <a:r>
              <a:rPr sz="1800" b="1">
                <a:solidFill>
                  <a:srgbClr val="A7E6FF"/>
                </a:solidFill>
              </a:rPr>
              <a:t>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B50A7-E0A3-49CA-8CD0-9142E7C2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628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ADC"/>
          </a:solidFill>
          <a:ln xmlns:a="http://schemas.openxmlformats.org/drawingml/2006/main" w="0">
            <a:solidFill>
              <a:srgbClr val="2EAA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A8F60-F434-47D7-B41F-F6E6F5DB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DDF4"/>
                </a:solidFill>
              </a:defRPr>
            </a:pPr>
            <a:r>
              <a:rPr sz="1350" b="0">
                <a:solidFill>
                  <a:srgbClr val="B9DDF4"/>
                </a:solidFill>
              </a:rPr>
              <a:t>Prepared for David Okolo | August 2026</a:t>
            </a:r>
          </a:p>
        </p:txBody>
      </p:sp>
    </p:spTree>
    <p:extLst>
      <p:ext uri="{BB962C8B-B14F-4D97-AF65-F5344CB8AC3E}">
        <p14:creationId xmlns:p14="http://schemas.microsoft.com/office/powerpoint/2010/main" val="477978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1B4A1-7B6E-49FF-8BA1-3C871A28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176D3"/>
                </a:solidFill>
              </a:defRPr>
            </a:pPr>
            <a:r>
              <a:rPr sz="900" b="1">
                <a:solidFill>
                  <a:srgbClr val="0176D3"/>
                </a:solidFill>
              </a:rPr>
              <a:t>PERMISSION SET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EFBFE-7EC8-4AD1-A967-D676CCEF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C34"/>
                </a:solidFill>
              </a:defRPr>
            </a:pPr>
            <a:r>
              <a:rPr sz="2850" b="1">
                <a:solidFill>
                  <a:srgbClr val="071C34"/>
                </a:solidFill>
              </a:rPr>
              <a:t>The access model is visible now, but it is too direct-assignment heavy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25157-7614-4E06-9939-E9557918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14018-B4E4-40A6-AAAE-07301E72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Probo Medical | Salesforce Access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E04FD-4E3A-4954-A3E9-470D7A9A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The workbook gives a traceable current-state view: who the user is, which Permission Sets they have, and which Permission Sets carry elevated access. The refactor goal is to turn that evidence into cleaner role-based access.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D4DF2-F594-4813-B57E-55C32189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190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FE019-8CF5-4E7B-A4BC-A2CB95D0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3845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176D3"/>
                </a:solidFill>
              </a:defRPr>
            </a:pPr>
            <a:r>
              <a:rPr sz="2550" b="1">
                <a:solidFill>
                  <a:srgbClr val="0176D3"/>
                </a:solidFill>
              </a:rPr>
              <a:t>7,221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6C1DB-5D8D-45FF-AF9E-243A439C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direct Permission Set assignments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F4BA5-E318-4F99-A543-677D8626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67000"/>
            <a:ext cx="2190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7C696-EF39-455F-8C5E-E8EE11C5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AADC"/>
                </a:solidFill>
              </a:defRPr>
            </a:pPr>
            <a:r>
              <a:rPr sz="2550" b="1">
                <a:solidFill>
                  <a:srgbClr val="2EAADC"/>
                </a:solidFill>
              </a:rPr>
              <a:t>423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E1E9B-CC4A-4C25-95C2-68D914EC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users with direct assignments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3AC73-C42F-4EEA-9E35-566DB938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0"/>
            <a:ext cx="2190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E73F8-DC19-49FC-A4D3-51D0D94B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3845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306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CB3C1-98BF-4C2B-AC24-BBB24136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unique direct Permission 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037A4-58F0-4EF9-ACDA-1DDB763E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6700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BFF2F-5503-4C61-B970-BA98E0C4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C2626"/>
                </a:solidFill>
              </a:defRPr>
            </a:pPr>
            <a:r>
              <a:rPr sz="2550" b="1">
                <a:solidFill>
                  <a:srgbClr val="DC2626"/>
                </a:solidFill>
              </a:rPr>
              <a:t>46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04442-2470-4281-A966-094F7F10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users with high-risk direct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5E9AF-AFE9-4608-89F3-13E38CFF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C34"/>
                </a:solidFill>
              </a:defRPr>
            </a:pPr>
            <a:r>
              <a:rPr sz="1800" b="1">
                <a:solidFill>
                  <a:srgbClr val="071C34"/>
                </a:solidFill>
              </a:rPr>
              <a:t>Executive takeaway: the refactor should start with access concentration and high-risk Permission Sets, then move common bundles into a managed target model.</a:t>
            </a:r>
          </a:p>
        </p:txBody>
      </p:sp>
    </p:spTree>
    <p:extLst>
      <p:ext uri="{BB962C8B-B14F-4D97-AF65-F5344CB8AC3E}">
        <p14:creationId xmlns:p14="http://schemas.microsoft.com/office/powerpoint/2010/main" val="14981570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8CEF0-680D-451C-AC60-1AC0E896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176D3"/>
                </a:solidFill>
              </a:defRPr>
            </a:pPr>
            <a:r>
              <a:rPr sz="900" b="1">
                <a:solidFill>
                  <a:srgbClr val="0176D3"/>
                </a:solidFill>
              </a:rPr>
              <a:t>PERMISSION SET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2B17E-FAF2-4012-8541-600F1360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C34"/>
                </a:solidFill>
              </a:defRPr>
            </a:pPr>
            <a:r>
              <a:rPr sz="2850" b="1">
                <a:solidFill>
                  <a:srgbClr val="071C34"/>
                </a:solidFill>
              </a:rPr>
              <a:t>Use the Excel file as a three-sheet evidence 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B042E-664F-4B90-A160-85B4D42D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B0DB2-E0D5-4214-93F0-5E5A7CAD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Probo Medical | Salesforce Access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EA5E5-552F-4559-96A6-FA0F6F81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762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176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19BCD-FDB8-4A33-8077-FEE7E01A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2762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176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58DFC-3F71-467D-A551-BCBEA211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2762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176D3"/>
            </a:solidFill>
            <a:prstDash val="solid"/>
          </a:ln>
        </p:spPr>
      </p: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52850" y="280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176D3"/>
            </a:solidFill>
            <a:prstDash val="solid"/>
            <a:head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372350" y="280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176D3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AD4C9-2397-4793-A682-B3D62486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176D3"/>
                </a:solidFill>
              </a:defRPr>
            </a:pPr>
            <a:r>
              <a:rPr sz="1350" b="1">
                <a:solidFill>
                  <a:srgbClr val="0176D3"/>
                </a:solidFill>
              </a:rPr>
              <a:t>Sheet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F908C-F0ED-4408-852F-63AEAA94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33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C34"/>
                </a:solidFill>
              </a:defRPr>
            </a:pPr>
            <a:r>
              <a:rPr sz="1800" b="1">
                <a:solidFill>
                  <a:srgbClr val="071C34"/>
                </a:solidFill>
              </a:rPr>
              <a:t>Users /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81004-CF75-42A3-8959-B1C0FBCD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One row per user; profile, role, manager, title, company, direct Permission Set list and count.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76EA9-D8AE-4FCC-BCBC-845EC2D5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288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176D3"/>
                </a:solidFill>
              </a:defRPr>
            </a:pPr>
            <a:r>
              <a:rPr sz="1350" b="1">
                <a:solidFill>
                  <a:srgbClr val="0176D3"/>
                </a:solidFill>
              </a:rPr>
              <a:t>Sheet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5F6C3-E4A9-4670-9EAB-F3467405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33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C34"/>
                </a:solidFill>
              </a:defRPr>
            </a:pPr>
            <a:r>
              <a:rPr sz="1800" b="1">
                <a:solidFill>
                  <a:srgbClr val="071C34"/>
                </a:solidFill>
              </a:rPr>
              <a:t>Direct Permission 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2DDB4-2D27-4080-9A6D-68865D77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5275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One row per direct assignment; the proof behind the summary counts.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EFB08-9608-4397-A658-B3803803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176D3"/>
                </a:solidFill>
              </a:defRPr>
            </a:pPr>
            <a:r>
              <a:rPr sz="1350" b="1">
                <a:solidFill>
                  <a:srgbClr val="0176D3"/>
                </a:solidFill>
              </a:rPr>
              <a:t>Sheet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011F4-5CB3-4910-9DCD-C5C2E519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C34"/>
                </a:solidFill>
              </a:defRPr>
            </a:pPr>
            <a:r>
              <a:rPr sz="1800" b="1">
                <a:solidFill>
                  <a:srgbClr val="071C34"/>
                </a:solidFill>
              </a:rPr>
              <a:t>Permission Set Details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C5C401-CD43-495B-84CB-197B3BD4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Permission flags and object/field access; used to explain what each assignment actually grants.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DF6FC-E72E-4991-B614-8A8D3694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339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C34"/>
                </a:solidFill>
              </a:defRPr>
            </a:pPr>
            <a:r>
              <a:rPr sz="1875" b="1">
                <a:solidFill>
                  <a:srgbClr val="071C34"/>
                </a:solidFill>
              </a:rPr>
              <a:t>Boss explanation: this creates traceability from User -&gt; Assigned Permission Set -&gt; Actual Permissions.</a:t>
            </a:r>
          </a:p>
        </p:txBody>
      </p:sp>
    </p:spTree>
    <p:extLst>
      <p:ext uri="{BB962C8B-B14F-4D97-AF65-F5344CB8AC3E}">
        <p14:creationId xmlns:p14="http://schemas.microsoft.com/office/powerpoint/2010/main" val="2006644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2935A6-D188-44DB-875B-3013D286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176D3"/>
                </a:solidFill>
              </a:defRPr>
            </a:pPr>
            <a:r>
              <a:rPr sz="900" b="1">
                <a:solidFill>
                  <a:srgbClr val="0176D3"/>
                </a:solidFill>
              </a:rPr>
              <a:t>PERMISSION SET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03A37-5532-42FE-BD42-DA0F7D06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C34"/>
                </a:solidFill>
              </a:defRPr>
            </a:pPr>
            <a:r>
              <a:rPr sz="2850" b="1">
                <a:solidFill>
                  <a:srgbClr val="071C34"/>
                </a:solidFill>
              </a:rPr>
              <a:t>Direct Permission Sets reveal the first cleanup candidates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6E5C9-E492-4A61-91F5-DD8BB59B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27265-033D-4F0D-A0DF-6A0F4826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Probo Medical | Salesforce Access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2A1CD-DF7E-4C99-B1D1-2E132A4C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Richard Gerler  (Sales Manager)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898C1-99B0-46E9-9C4D-2ED05922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0225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B2F32-5A20-44D3-9831-9665D370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0225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DC76F-59A1-43AB-8175-21EB13FF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43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81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B9514-9B1F-48FB-B212-E747A1E2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Kris Nelson  (Sales Manager)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E4BA7-D3C5-4D58-9E49-13791FBD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4C77F-B2DE-43D2-84C4-D349E756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334327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58505-F8E2-4A1F-B43F-BDF5201A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81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79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5EE2B-064A-4C3F-AD8C-E3941925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April Lebo  (Sales Manager)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56B21-6304-4861-B977-4D81EC0D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76525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47FA4-E537-434E-B5AC-DC79275D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76525"/>
            <a:ext cx="313372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01481-17B8-4AEE-B940-BAAD95F6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19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FA34F-5583-4DD7-A598-D1E0EF8D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765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Amber Hironimus  (Sales Manager)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4D451-DE5B-4751-B61E-F58FEB2D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14675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3340B-7DD2-43F6-A233-690E9DC0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14675"/>
            <a:ext cx="24955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9C7FF-3072-494E-91CA-87BFDD0C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575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59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E54A8-F7BC-4E06-881D-C2929D25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Ashley Madson  (System Administrator)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52FB9-BC15-446F-BEA8-74349325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52825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75A2D-DA5F-4C78-AAEB-CF97075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52825"/>
            <a:ext cx="24955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AE1C85-5C1A-4A2D-A6B6-54F7C7EE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956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59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E6FE2-51A1-42D3-BDA8-660391FC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David Barnett  (Purchasing Manager)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D2FB3-7BEB-4281-9A7D-7955A462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90975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560934-0750-43CA-ADC8-07FFF711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90975"/>
            <a:ext cx="24955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79736C-B742-4305-B42E-F0799BD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338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59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5D8A0F-5CB0-4310-8569-EF0F77F1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Dustin Newton  (Sales Manager)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C026CB-7C65-493E-9FD3-3AD0DEE4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29125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33A592-6E3E-42FC-ADD2-3E85780F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29125"/>
            <a:ext cx="24955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8D09E1-9AC5-44BE-859F-932A83C7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719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59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5E107-3336-47A5-BE0A-88150FDB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Dominick Vena  (QC Manager)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52F5E6-529C-4447-9AA3-9FE95358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67275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BDE5BE-275C-4545-A28F-0B4FE3F2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67275"/>
            <a:ext cx="24574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847380-D02B-4598-8385-51A1A7AF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101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58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486AB9-2338-4B19-AA2F-340B26EA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B9DD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4CB018-FE89-4601-A94D-90AD53E3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574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C34"/>
                </a:solidFill>
              </a:defRPr>
            </a:pPr>
            <a:r>
              <a:rPr sz="1800" b="1">
                <a:solidFill>
                  <a:srgbClr val="071C34"/>
                </a:solidFill>
              </a:rPr>
              <a:t>What this means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B70583-84D3-4D26-BA22-FF67F190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1943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Users with 50+ direct Permission Sets are hard to explain, hard to audit, and likely include historical one-off access.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4C17B0-82A7-4C65-96EC-8A8C3053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176D3"/>
                </a:solidFill>
              </a:defRPr>
            </a:pPr>
            <a:r>
              <a:rPr sz="1350" b="1">
                <a:solidFill>
                  <a:srgbClr val="0176D3"/>
                </a:solidFill>
              </a:rPr>
              <a:t>Start review threshold: 20+ direct Permission Sets.</a:t>
            </a:r>
          </a:p>
        </p:txBody>
      </p:sp>
    </p:spTree>
    <p:extLst>
      <p:ext uri="{BB962C8B-B14F-4D97-AF65-F5344CB8AC3E}">
        <p14:creationId xmlns:p14="http://schemas.microsoft.com/office/powerpoint/2010/main" val="1389616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C87C6A-2BA6-409E-AFB9-FE17640F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176D3"/>
                </a:solidFill>
              </a:defRPr>
            </a:pPr>
            <a:r>
              <a:rPr sz="900" b="1">
                <a:solidFill>
                  <a:srgbClr val="0176D3"/>
                </a:solidFill>
              </a:rPr>
              <a:t>PERMISSION SET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A9760-63EE-42A4-86A3-A82D2116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C34"/>
                </a:solidFill>
              </a:defRPr>
            </a:pPr>
            <a:r>
              <a:rPr sz="2850" b="1">
                <a:solidFill>
                  <a:srgbClr val="071C34"/>
                </a:solidFill>
              </a:rPr>
              <a:t>High-risk access is concentrated enough to review quickly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8CB1D-9F1A-4FC7-A9D8-A660A03D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BF763-BD1E-4813-A6B8-309E12DF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Probo Medical | Salesforce Access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8414F-79A0-49DB-8F62-A20E51BA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2286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FF180-5BFF-4244-A853-E1258445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193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C2626"/>
                </a:solidFill>
              </a:defRPr>
            </a:pPr>
            <a:r>
              <a:rPr sz="2550" b="1">
                <a:solidFill>
                  <a:srgbClr val="DC2626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A2E8E-223F-4E11-8A51-DC15D61F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5745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users with Super 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1ED1C-5DB5-4D73-909E-D9DA4E2E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47850"/>
            <a:ext cx="2286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06B35-A93C-4A19-9ABB-C51B4F46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193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9E0B"/>
                </a:solidFill>
              </a:defRPr>
            </a:pPr>
            <a:r>
              <a:rPr sz="2550" b="1">
                <a:solidFill>
                  <a:srgbClr val="F59E0B"/>
                </a:solidFill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C0237-F96A-4CA2-B710-735DF33B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57450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users with Waive MFA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C3D0A-FD4B-472E-96EB-8B72206A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47850"/>
            <a:ext cx="2571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26AE6-FBA0-45AC-AD8E-155D4897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C2626"/>
                </a:solidFill>
              </a:defRPr>
            </a:pPr>
            <a:r>
              <a:rPr sz="2550" b="1">
                <a:solidFill>
                  <a:srgbClr val="DC2626"/>
                </a:solidFill>
              </a:rPr>
              <a:t>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5BF0A-BFFE-4F35-81D3-BAF0D301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211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high-risk direct assignments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DFB94-7E70-474B-8ACD-DAC4CF82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47850"/>
            <a:ext cx="2000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3B769-B5D2-4495-818F-9F9B5637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193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C2626"/>
                </a:solidFill>
              </a:defRPr>
            </a:pPr>
            <a:r>
              <a:rPr sz="2550" b="1">
                <a:solidFill>
                  <a:srgbClr val="DC2626"/>
                </a:solidFill>
              </a:rPr>
              <a:t>46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51267-DE50-4599-922E-17CA2A2C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57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high-risk 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172C2-E3D9-4492-BB0F-F21F7C04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766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Super 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50AF3-4DD8-4838-83D0-E9A74983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2857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D6C90-28D3-4F63-B741-A5CC7AB9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2857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82BCC-40E1-4CD5-98AA-BC8C0A4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57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D7135-8F21-4525-A4A5-3E71804D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Reports and Dashboards with View All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56C48-39B3-46A3-AB70-5AA3A57D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38600"/>
            <a:ext cx="2857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6FA8C-45AC-4410-A801-68CA938C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38600"/>
            <a:ext cx="269557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EF111-0D79-46F2-81BC-5401DBEB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6CC597-DC50-42E5-AD4D-CA7E08E8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UK Admin Permission 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928B00-2BA7-4D48-B818-750FED51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62450"/>
            <a:ext cx="2857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27FEC1-909C-4EAF-B6F0-99A399EA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62450"/>
            <a:ext cx="126682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B2ACF-23B7-4BF1-8943-D7A23A7F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053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E0BCA8-07BE-4F8F-9277-FF0AFFC6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Waive MFA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057B58-CFE2-485E-965F-80DF5315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2857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3CFDDF-4AD4-4A69-9C69-27D6B304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111442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C3DB97-A67B-4EA9-A031-AA993466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29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028347-B9B1-4678-97BB-99B1B02D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720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Default lead creator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90DAEC-5870-44D9-A04D-7DC9DD34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10150"/>
            <a:ext cx="2857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598A03-0134-4A90-83F9-8940E29D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10150"/>
            <a:ext cx="63817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5FE94C-77B2-411A-8CAE-B0D1CFB8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AD93DB-D230-4019-A46C-EE91F48C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Modify All - Products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1A016C-355D-43C4-A9EC-0BA6EB1F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34000"/>
            <a:ext cx="2857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9B2799-58FE-4527-9E44-263295AF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34000"/>
            <a:ext cx="63817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1CBEC4-0BCA-4241-A3FB-BC0C913B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76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3FFC67-CED0-43EA-9E9B-C0B27A91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Veeam Data Cloud backup and restore user SFDC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FF7A23-8817-4B04-A657-2F4F4692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57850"/>
            <a:ext cx="2857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0F7960-757B-40CD-BE0F-858534A1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57850"/>
            <a:ext cx="4762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91E8D5-E3B6-467C-97A8-C24C0870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007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D6DF22-A729-4100-8489-29CFAA82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C34"/>
                </a:solidFill>
              </a:defRPr>
            </a:pPr>
            <a:r>
              <a:rPr sz="1650" b="1">
                <a:solidFill>
                  <a:srgbClr val="071C34"/>
                </a:solidFill>
              </a:rPr>
              <a:t>Priority: prove who truly needs these access paths, remove stale exceptions, and convert repeatable needs into governed bundles.</a:t>
            </a:r>
          </a:p>
        </p:txBody>
      </p:sp>
    </p:spTree>
    <p:extLst>
      <p:ext uri="{BB962C8B-B14F-4D97-AF65-F5344CB8AC3E}">
        <p14:creationId xmlns:p14="http://schemas.microsoft.com/office/powerpoint/2010/main" val="833851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D82E9F-3240-4B2E-9AD2-3DF49BDC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176D3"/>
                </a:solidFill>
              </a:defRPr>
            </a:pPr>
            <a:r>
              <a:rPr sz="900" b="1">
                <a:solidFill>
                  <a:srgbClr val="0176D3"/>
                </a:solidFill>
              </a:rPr>
              <a:t>PERMISSION SET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D6ECA-7EA8-4D8D-93CC-92856709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C34"/>
                </a:solidFill>
              </a:defRPr>
            </a:pPr>
            <a:r>
              <a:rPr sz="2850" b="1">
                <a:solidFill>
                  <a:srgbClr val="071C34"/>
                </a:solidFill>
              </a:rPr>
              <a:t>Common Permission Sets should become governed access bundles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90340-020B-42EB-BCDA-3C6CF611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AD86E-7DDF-4575-8AE4-21548DC6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Probo Medical | Salesforce Access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6C116-663A-4D59-A975-BE0C8124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Add Product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C1654-1735-4ACC-AEE2-69A63CF3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0225"/>
            <a:ext cx="3238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001FC-0F73-4D60-ACAD-8EEDF28E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0225"/>
            <a:ext cx="3238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91DAE-91D1-4BAF-9433-55388FFA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43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262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F7216-2418-44F7-8125-DA544AD2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621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Pandadoc Object Permissions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8AF00-4440-47D9-892C-37C518A5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0275"/>
            <a:ext cx="3238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95B97-98FF-4D32-92EB-2CFBF46B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0275"/>
            <a:ext cx="315277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62A69-32DA-4D69-A63B-7D7A4603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431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255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8E42C-DFA7-40AF-B829-D8D312DE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622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PandaDoc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5173D-2DE0-4201-9386-46867A93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00325"/>
            <a:ext cx="3238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7D080-D440-4E7E-B4B0-EE178D9C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00325"/>
            <a:ext cx="2286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355B9-4C68-4B95-9615-7D11C3D5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431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185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C71FB-FCFA-449C-8C11-B071AA3C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622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Add Asset Page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635A5-251B-4FC3-92FA-269285A3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0375"/>
            <a:ext cx="3238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DFA11-7292-4BDE-BE81-0AE13336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0375"/>
            <a:ext cx="227647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D6D87-2A9A-4281-B6CC-F45107E8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43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184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C72B1-4998-4395-853E-C12DABFD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Loaner Assets Object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DFB03-5EE6-4850-BE06-FD19C499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00425"/>
            <a:ext cx="3238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CF689-69E4-44EA-B658-F478312E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00425"/>
            <a:ext cx="158115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292294-9B48-47F7-9120-DC5A5923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43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DF8AAA-9DF0-4BB3-885B-C5861B31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Loaner Object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F9416F-1668-49E9-A34A-B1269D60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00475"/>
            <a:ext cx="3238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97F1BE-4DE7-4597-B5C7-02EC0DBD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00475"/>
            <a:ext cx="15621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BE0ADD-83BE-46A6-96E6-CD5CB2E6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433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08D504-4A3A-49FB-8D6B-417DF099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624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SWO/HWO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BEA872-0F64-4ADD-B091-3E417697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00525"/>
            <a:ext cx="3238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49E62F-5917-426A-9C74-9C44E668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00525"/>
            <a:ext cx="15621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94BD9C-EF9E-425F-B8C6-CF5E1FE3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43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D6FDB5-62F3-4980-8D6E-59C6372F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624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All Record Types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AE2499-FCE1-487D-BF9D-A4E6CE0E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00575"/>
            <a:ext cx="32385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F55456-0FAF-4713-B59B-94D2C648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00575"/>
            <a:ext cx="14478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4ACD08-2B82-41F2-B692-059BD017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434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117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0A7BC6-5310-429E-AE64-7CEAA99B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62150"/>
            <a:ext cx="2333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C34"/>
                </a:solidFill>
              </a:defRPr>
            </a:pPr>
            <a:r>
              <a:rPr sz="1575" b="1">
                <a:solidFill>
                  <a:srgbClr val="071C34"/>
                </a:solidFill>
              </a:rPr>
              <a:t>Large-repeat Permission Sets are good candidates for Permission Set Groups or persona bundles because many users need the same access pattern.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5824E2-AA15-4ADC-928A-60189458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33800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Refactor rule: if a Permission Set is assigned broadly and always travels with the same neighboring sets, bundle it by job function instead of assigning it one-by-one.</a:t>
            </a:r>
          </a:p>
        </p:txBody>
      </p:sp>
    </p:spTree>
    <p:extLst>
      <p:ext uri="{BB962C8B-B14F-4D97-AF65-F5344CB8AC3E}">
        <p14:creationId xmlns:p14="http://schemas.microsoft.com/office/powerpoint/2010/main" val="1939810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DE790-7954-42B3-B7E5-97FCB76A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176D3"/>
                </a:solidFill>
              </a:defRPr>
            </a:pPr>
            <a:r>
              <a:rPr sz="900" b="1">
                <a:solidFill>
                  <a:srgbClr val="0176D3"/>
                </a:solidFill>
              </a:rPr>
              <a:t>PERMISSION SET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A373D-7A04-426A-ACCC-81805398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C34"/>
                </a:solidFill>
              </a:defRPr>
            </a:pPr>
            <a:r>
              <a:rPr sz="2850" b="1">
                <a:solidFill>
                  <a:srgbClr val="071C34"/>
                </a:solidFill>
              </a:rPr>
              <a:t>The current pattern mixes baseline access, job access, and exceptions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3A259-E539-4E49-9259-385A3D1A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872B3-D907-48C0-91E6-41163C7E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Probo Medical | Salesforce Access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8634A-7EA1-4992-9DC3-69ECB56F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5D52-297D-46E7-BB13-8CDA9B31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479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C34"/>
                </a:solidFill>
              </a:defRPr>
            </a:pPr>
            <a:r>
              <a:rPr sz="1950" b="1">
                <a:solidFill>
                  <a:srgbClr val="071C34"/>
                </a:solidFill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7DC28-91CF-467A-A1E1-A5F4B4A5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0350"/>
            <a:ext cx="228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Profile and license provide the minimum access a user needs to enter Salesforce.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9C831-00FD-4772-B943-4686A610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6215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6644D-24F6-4770-A0C7-5C824577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2479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C34"/>
                </a:solidFill>
              </a:defRPr>
            </a:pPr>
            <a:r>
              <a:rPr sz="1950" b="1">
                <a:solidFill>
                  <a:srgbClr val="071C34"/>
                </a:solidFill>
              </a:rPr>
              <a:t>Job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5323B-3397-472A-908A-F7C4D1DC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800350"/>
            <a:ext cx="228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Permission Sets were added directly as the business needed more capability.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60410-6B15-4D89-9295-2B64A2C2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62150"/>
            <a:ext cx="2857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37A5A-3E3E-4174-8CEB-0C18CA5A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45309"/>
                </a:solidFill>
              </a:defRPr>
            </a:pPr>
            <a:r>
              <a:rPr sz="1950" b="1">
                <a:solidFill>
                  <a:srgbClr val="B45309"/>
                </a:solidFill>
              </a:rPr>
              <a:t>Exceptions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E9810-2B7C-41CF-B18B-41275CAD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228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Super User, View All, Modify All, Waive MFA, and admin-like rights sit beside normal access.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728B6-2913-4C1C-8AC9-9BCF7F58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C34"/>
                </a:solidFill>
              </a:defRPr>
            </a:pPr>
            <a:r>
              <a:rPr sz="1875" b="1">
                <a:solidFill>
                  <a:srgbClr val="071C34"/>
                </a:solidFill>
              </a:rPr>
              <a:t>Refactor objective: separate these layers so access can be approved, explained, and removed cleanly.</a:t>
            </a:r>
          </a:p>
        </p:txBody>
      </p:sp>
    </p:spTree>
    <p:extLst>
      <p:ext uri="{BB962C8B-B14F-4D97-AF65-F5344CB8AC3E}">
        <p14:creationId xmlns:p14="http://schemas.microsoft.com/office/powerpoint/2010/main" val="5544713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55250-2034-4CD2-A219-29FE62B9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176D3"/>
                </a:solidFill>
              </a:defRPr>
            </a:pPr>
            <a:r>
              <a:rPr sz="900" b="1">
                <a:solidFill>
                  <a:srgbClr val="0176D3"/>
                </a:solidFill>
              </a:rPr>
              <a:t>PERMISSION SET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18E49-6D6D-4E61-B01F-B25E0461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C34"/>
                </a:solidFill>
              </a:defRPr>
            </a:pPr>
            <a:r>
              <a:rPr sz="2850" b="1">
                <a:solidFill>
                  <a:srgbClr val="071C34"/>
                </a:solidFill>
              </a:rPr>
              <a:t>Target model: make access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4B267-FF2B-42F2-8A8D-17E9182F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4D18A-4FB9-44D4-88C4-8090EEDD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Probo Medical | Salesforce Access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0158A-F0B2-45A8-9D1E-FF4F195A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1619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176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37FC7-1454-4438-A703-2F4A846F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19250"/>
            <a:ext cx="2000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AA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4644D-1A22-4147-899A-A0111867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85900"/>
            <a:ext cx="238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38ABD-293D-49B7-8B44-A8A271B9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1350"/>
            <a:ext cx="238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17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99156-22B5-42B9-950A-8D75DD94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571750" y="1990725"/>
            <a:ext cx="714375" cy="781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176D3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5286375" y="1924050"/>
            <a:ext cx="619125" cy="66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59669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71750" y="2771775"/>
            <a:ext cx="3333750" cy="847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176D3"/>
            </a:solidFill>
            <a:prstDash val="solid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286750" y="1924050"/>
            <a:ext cx="666750" cy="228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59E0B"/>
            </a:solidFill>
            <a:prstDash val="dash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C9714-F6F8-45C0-9B7B-AF28C8BF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289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C34"/>
                </a:solidFill>
              </a:defRPr>
            </a:pPr>
            <a:r>
              <a:rPr sz="1800" b="1">
                <a:solidFill>
                  <a:srgbClr val="071C34"/>
                </a:solidFill>
              </a:rPr>
              <a:t>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DF38F-463B-49BA-AE3C-04E8F0FD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57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C34"/>
                </a:solidFill>
              </a:defRPr>
            </a:pPr>
            <a:r>
              <a:rPr sz="1800" b="1">
                <a:solidFill>
                  <a:srgbClr val="071C34"/>
                </a:solidFill>
              </a:rPr>
              <a:t>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6CE51-53F0-4283-B842-CAAB0A4E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573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C34"/>
                </a:solidFill>
              </a:defRPr>
            </a:pPr>
            <a:r>
              <a:rPr sz="1650" b="1">
                <a:solidFill>
                  <a:srgbClr val="071C34"/>
                </a:solidFill>
              </a:rPr>
              <a:t>Permission Set</a:t>
            </a:r>
          </a:p>
          <a:p xmlns:a="http://schemas.openxmlformats.org/drawingml/2006/main">
            <a:pPr algn="ctr">
              <a:defRPr sz="1650" b="1">
                <a:solidFill>
                  <a:srgbClr val="071C34"/>
                </a:solidFill>
              </a:defRPr>
            </a:pPr>
            <a:r>
              <a:rPr sz="1650" b="1">
                <a:solidFill>
                  <a:srgbClr val="071C34"/>
                </a:solidFill>
              </a:rPr>
              <a:t>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C0F1D-DDCE-4518-9AFC-0F42ECC3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336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Job bundle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5ABDC-6927-4439-B925-E88F2776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C34"/>
                </a:solidFill>
              </a:defRPr>
            </a:pPr>
            <a:r>
              <a:rPr sz="1650" b="1">
                <a:solidFill>
                  <a:srgbClr val="071C34"/>
                </a:solidFill>
              </a:rPr>
              <a:t>Add-on</a:t>
            </a:r>
          </a:p>
          <a:p xmlns:a="http://schemas.openxmlformats.org/drawingml/2006/main">
            <a:pPr algn="ctr">
              <a:defRPr sz="1650" b="1">
                <a:solidFill>
                  <a:srgbClr val="071C34"/>
                </a:solidFill>
              </a:defRPr>
            </a:pPr>
            <a:r>
              <a:rPr sz="1650" b="1">
                <a:solidFill>
                  <a:srgbClr val="071C34"/>
                </a:solidFill>
              </a:rPr>
              <a:t>Permission 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BC79FB-9462-4A35-83F2-F9EA3C53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Small, named need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0F2CF7-FCA2-4000-A5D1-BAF3F4C8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90700"/>
            <a:ext cx="1666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5309"/>
                </a:solidFill>
              </a:defRPr>
            </a:pPr>
            <a:r>
              <a:rPr sz="1725" b="1">
                <a:solidFill>
                  <a:srgbClr val="B45309"/>
                </a:solidFill>
              </a:rPr>
              <a:t>Exception</a:t>
            </a:r>
          </a:p>
          <a:p xmlns:a="http://schemas.openxmlformats.org/drawingml/2006/main">
            <a:pPr algn="ctr">
              <a:defRPr sz="1725" b="1">
                <a:solidFill>
                  <a:srgbClr val="B45309"/>
                </a:solidFill>
              </a:defRPr>
            </a:pPr>
            <a:r>
              <a:rPr sz="1725" b="1">
                <a:solidFill>
                  <a:srgbClr val="B45309"/>
                </a:solidFill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BCA8E-C9B1-4A0D-9545-5C465F48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241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92400E"/>
                </a:solidFill>
              </a:defRPr>
            </a:pPr>
            <a:r>
              <a:rPr sz="1125" b="0">
                <a:solidFill>
                  <a:srgbClr val="92400E"/>
                </a:solidFill>
              </a:rPr>
              <a:t>Time-bound approval + owner + review 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6AA52-3B83-402C-9B8C-D115BDFC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625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C34"/>
                </a:solidFill>
              </a:defRPr>
            </a:pPr>
            <a:r>
              <a:rPr sz="1800" b="1">
                <a:solidFill>
                  <a:srgbClr val="071C34"/>
                </a:solidFill>
              </a:rPr>
              <a:t>Class-style rule: users inherit baseline access, receive job bundles, and only get exceptions through a controlled process.</a:t>
            </a:r>
          </a:p>
        </p:txBody>
      </p:sp>
    </p:spTree>
    <p:extLst>
      <p:ext uri="{BB962C8B-B14F-4D97-AF65-F5344CB8AC3E}">
        <p14:creationId xmlns:p14="http://schemas.microsoft.com/office/powerpoint/2010/main" val="21305557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BA315-C64A-42AE-B739-4A9D65BC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176D3"/>
                </a:solidFill>
              </a:defRPr>
            </a:pPr>
            <a:r>
              <a:rPr sz="900" b="1">
                <a:solidFill>
                  <a:srgbClr val="0176D3"/>
                </a:solidFill>
              </a:rPr>
              <a:t>PERMISSION SET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AC931-42D6-49A3-8330-35168197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C34"/>
                </a:solidFill>
              </a:defRPr>
            </a:pPr>
            <a:r>
              <a:rPr sz="2850" b="1">
                <a:solidFill>
                  <a:srgbClr val="071C34"/>
                </a:solidFill>
              </a:rPr>
              <a:t>Refactor in four controlled workstreams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9E6B7-2DD1-4C4E-90C2-9E591744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C2620-9042-4186-8FDC-85E6FD64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Probo Medical | Salesforce Access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6A689-9D63-49AF-9164-0DEC1594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4191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176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1036B-FC1B-4EA9-BD1C-E13A32F5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38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176D3"/>
                </a:solidFill>
              </a:defRPr>
            </a:pPr>
            <a:r>
              <a:rPr sz="1875" b="1">
                <a:solidFill>
                  <a:srgbClr val="0176D3"/>
                </a:solidFill>
              </a:rPr>
              <a:t>1. Inventory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03BBD-28D1-4718-9442-17A824F4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384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Freeze the evidence baseline and identify high-count, high-risk, and stale assignments.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BEC6D-AECF-4289-BCDD-680E3B87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191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50A9B-DB0F-4DF2-B9C9-78236984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176D3"/>
                </a:solidFill>
              </a:defRPr>
            </a:pPr>
            <a:r>
              <a:rPr sz="1875" b="1">
                <a:solidFill>
                  <a:srgbClr val="0176D3"/>
                </a:solidFill>
              </a:rPr>
              <a:t>2.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258AF-8F95-4FB1-8AE7-71A7246B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Create role bundles by job function and separate add-ons from exceptions.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57E67-9E0F-4D27-B733-480F3582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191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7770C-A928-415A-9E35-4466E3C9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176D3"/>
                </a:solidFill>
              </a:defRPr>
            </a:pPr>
            <a:r>
              <a:rPr sz="1875" b="1">
                <a:solidFill>
                  <a:srgbClr val="0176D3"/>
                </a:solidFill>
              </a:rPr>
              <a:t>3. Migrate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8F8C2-B5C9-493C-A565-52117BF4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481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Pilot with one business group, compare before/after access, then expand.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6F347-EC99-4D8F-9A02-7E3C1E30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191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B4FBB-EE0C-49B0-8219-1DDE4B1B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176D3"/>
                </a:solidFill>
              </a:defRPr>
            </a:pPr>
            <a:r>
              <a:rPr sz="1875" b="1">
                <a:solidFill>
                  <a:srgbClr val="0176D3"/>
                </a:solidFill>
              </a:rPr>
              <a:t>4. Govern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0D681-9433-420E-BE17-1C36E518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Add owners, approvals, review cadence, and removal rules for exceptions.</a:t>
            </a:r>
          </a:p>
        </p:txBody>
      </p:sp>
    </p:spTree>
    <p:extLst>
      <p:ext uri="{BB962C8B-B14F-4D97-AF65-F5344CB8AC3E}">
        <p14:creationId xmlns:p14="http://schemas.microsoft.com/office/powerpoint/2010/main" val="21303337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CEC44-3F6D-4C57-A0AA-7772FFCB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176D3"/>
                </a:solidFill>
              </a:defRPr>
            </a:pPr>
            <a:r>
              <a:rPr sz="900" b="1">
                <a:solidFill>
                  <a:srgbClr val="0176D3"/>
                </a:solidFill>
              </a:rPr>
              <a:t>PERMISSION SET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94E7E-1582-4E74-96F6-0741275E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C34"/>
                </a:solidFill>
              </a:defRPr>
            </a:pPr>
            <a:r>
              <a:rPr sz="2850" b="1">
                <a:solidFill>
                  <a:srgbClr val="071C34"/>
                </a:solidFill>
              </a:rPr>
              <a:t>Refactor rules keep the cleanup from becoming another one-off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0A6A5-5A61-4FBA-A42A-A53F0F3A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EA8A0-DB39-45DC-A758-18E7210E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Probo Medical | Salesforce Access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3E9CF-83DE-469E-B173-E5007858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C34"/>
                </a:solidFill>
              </a:defRPr>
            </a:pPr>
            <a:r>
              <a:rPr sz="1650" b="1">
                <a:solidFill>
                  <a:srgbClr val="071C34"/>
                </a:solidFill>
              </a:rPr>
              <a:t>Threshold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B5A30-BB31-4B58-B395-8C778D75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Any user with 20+ direct Permission Sets requires business-owner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987BF-2289-4D65-AA08-26E79692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5E197-9337-4CE9-A30D-9F5BA3A1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C34"/>
                </a:solidFill>
              </a:defRPr>
            </a:pPr>
            <a:r>
              <a:rPr sz="1650" b="1">
                <a:solidFill>
                  <a:srgbClr val="071C34"/>
                </a:solidFill>
              </a:rPr>
              <a:t>Critical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0D8B4-011C-4BE5-AB6E-F5F2F03D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431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Super User, Waive MFA, Modify All Data, and View All Data require named 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3F284-95EB-4A87-A7F8-B943641F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ACD86-FF01-4373-83D6-D50AAF42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C34"/>
                </a:solidFill>
              </a:defRPr>
            </a:pPr>
            <a:r>
              <a:rPr sz="1650" b="1">
                <a:solidFill>
                  <a:srgbClr val="071C34"/>
                </a:solidFill>
              </a:rPr>
              <a:t>Bundle first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2A811-488E-4D9F-925E-15912E8B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Common access patterns move into Permission Set Groups by job function.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B591D-896E-48A3-B4E5-28351014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9349A-6B6B-4BD7-893C-107863A9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C34"/>
                </a:solidFill>
              </a:defRPr>
            </a:pPr>
            <a:r>
              <a:rPr sz="1650" b="1">
                <a:solidFill>
                  <a:srgbClr val="071C34"/>
                </a:solidFill>
              </a:rPr>
              <a:t>Exception expiry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0A883-0B6C-4799-A9F8-8624FC2D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90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Exception access must have owner, reason, and review date.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2C2E3-1363-4955-A5D3-C6EAC205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C0BC7-8DE6-490B-9EE5-75FCDD5A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C34"/>
                </a:solidFill>
              </a:defRPr>
            </a:pPr>
            <a:r>
              <a:rPr sz="1650" b="1">
                <a:solidFill>
                  <a:srgbClr val="071C34"/>
                </a:solidFill>
              </a:rPr>
              <a:t>Naming standard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45E09-D881-4F10-9B74-C9AB575F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148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Permission Sets should identify function, scope, and risk level.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F3E1C6-F8DB-40CF-84D2-2E6BC713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68251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E1185-65C0-4ACF-86C3-589FC6F9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176D3"/>
                </a:solidFill>
              </a:defRPr>
            </a:pPr>
            <a:r>
              <a:rPr sz="900" b="1">
                <a:solidFill>
                  <a:srgbClr val="0176D3"/>
                </a:solidFill>
              </a:rPr>
              <a:t>PERMISSION SET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4C1AF-4415-4BA7-A624-7BA0E95C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C34"/>
                </a:solidFill>
              </a:defRPr>
            </a:pPr>
            <a:r>
              <a:rPr sz="2850" b="1">
                <a:solidFill>
                  <a:srgbClr val="071C34"/>
                </a:solidFill>
              </a:rPr>
              <a:t>A phased plan reduces risk while access is being cleaned 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B0C25-FFBC-4729-BD21-84F7623C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DAB4E-CADB-48F5-9808-E05E73BA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Probo Medical | Salesforce Access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56B9D-1063-49BC-9A53-62EBE808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857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0176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ED3E4-BF3A-422C-8693-C6D02150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176D3"/>
                </a:solidFill>
              </a:defRPr>
            </a:pPr>
            <a:r>
              <a:rPr sz="1650" b="1">
                <a:solidFill>
                  <a:srgbClr val="0176D3"/>
                </a:solidFill>
              </a:rPr>
              <a:t>0-30 days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9942D-FDE2-472A-86F1-8365AF75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28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C34"/>
                </a:solidFill>
              </a:defRPr>
            </a:pPr>
            <a:r>
              <a:rPr sz="2100" b="1">
                <a:solidFill>
                  <a:srgbClr val="071C34"/>
                </a:solidFill>
              </a:rPr>
              <a:t>Stabilize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4FC43-683B-4187-BAEC-3E708A2D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Validate workbook, review Super User/Waive MFA, identify top 20 high-count users.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5B952-3682-4639-8D71-F5AC5D46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2857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81FCB-18C9-4493-BA1D-74D06D4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47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176D3"/>
                </a:solidFill>
              </a:defRPr>
            </a:pPr>
            <a:r>
              <a:rPr sz="1650" b="1">
                <a:solidFill>
                  <a:srgbClr val="0176D3"/>
                </a:solidFill>
              </a:rPr>
              <a:t>31-60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4BB437-1552-48C8-A382-2C663016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28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C34"/>
                </a:solidFill>
              </a:defRPr>
            </a:pPr>
            <a:r>
              <a:rPr sz="2100" b="1">
                <a:solidFill>
                  <a:srgbClr val="071C34"/>
                </a:solidFill>
              </a:rPr>
              <a:t>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6F8BB-904B-4994-AE45-4F0F970C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Build persona bundles for Sales, QC, Shipping, FSL, Purchasing, and admin groups.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0C0CC-B66E-4272-8C93-3EC5E36F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2857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21CAD-C98C-4DF3-A5A5-0E04B262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479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176D3"/>
                </a:solidFill>
              </a:defRPr>
            </a:pPr>
            <a:r>
              <a:rPr sz="1650" b="1">
                <a:solidFill>
                  <a:srgbClr val="0176D3"/>
                </a:solidFill>
              </a:rPr>
              <a:t>61-90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A4CC0-C814-4078-AF51-E65C8D98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28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C34"/>
                </a:solidFill>
              </a:defRPr>
            </a:pPr>
            <a:r>
              <a:rPr sz="2100" b="1">
                <a:solidFill>
                  <a:srgbClr val="071C34"/>
                </a:solidFill>
              </a:rPr>
              <a:t>Migrate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E826A-2E33-48BF-97A5-1A62C597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Pilot, compare before/after, remove duplicate direct assignments, document approvals.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65049-1159-46F9-80B6-8649D332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C34"/>
                </a:solidFill>
              </a:defRPr>
            </a:pPr>
            <a:r>
              <a:rPr sz="1800" b="1">
                <a:solidFill>
                  <a:srgbClr val="071C34"/>
                </a:solidFill>
              </a:rPr>
              <a:t>Success measure: fewer direct assignments per user, fewer unmanaged high-risk exceptions, and a repeatable approval path.</a:t>
            </a:r>
          </a:p>
        </p:txBody>
      </p:sp>
    </p:spTree>
    <p:extLst>
      <p:ext uri="{BB962C8B-B14F-4D97-AF65-F5344CB8AC3E}">
        <p14:creationId xmlns:p14="http://schemas.microsoft.com/office/powerpoint/2010/main" val="8410654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DBD79-D848-4EC2-80F4-12E17FA3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176D3"/>
                </a:solidFill>
              </a:defRPr>
            </a:pPr>
            <a:r>
              <a:rPr sz="900" b="1">
                <a:solidFill>
                  <a:srgbClr val="0176D3"/>
                </a:solidFill>
              </a:rPr>
              <a:t>PERMISSION SET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DDC28-3AEA-44E6-8F7B-5B14DA00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C34"/>
                </a:solidFill>
              </a:defRPr>
            </a:pPr>
            <a:r>
              <a:rPr sz="2850" b="1">
                <a:solidFill>
                  <a:srgbClr val="071C34"/>
                </a:solidFill>
              </a:rPr>
              <a:t>David can ask for approval on a focused access refactor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69DBB-9183-45E8-850B-89C5C933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8E721-DDA8-454D-B4CD-F440F765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Probo Medical | Salesforce Access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E6F6E-7A14-4D41-848D-4E609050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176D3"/>
                </a:solidFill>
              </a:defRPr>
            </a:pPr>
            <a:r>
              <a:rPr sz="1800" b="1">
                <a:solidFill>
                  <a:srgbClr val="0176D3"/>
                </a:solidFill>
              </a:rPr>
              <a:t>Recommended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EA468-D279-435B-B9C2-73939C7B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C34"/>
                </a:solidFill>
              </a:defRPr>
            </a:pPr>
            <a:r>
              <a:rPr sz="2250" b="1">
                <a:solidFill>
                  <a:srgbClr val="071C34"/>
                </a:solidFill>
              </a:rPr>
              <a:t>Approve a controlled Permission Set refactor beginning with high-risk users and the highest-count direct assignments.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5A679-CB2D-4D4A-8BA5-6AD6F9F0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7771C-D00A-4EDA-A9AF-0DA62CD0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7660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E8586-50F2-49DB-A036-B1D5DE77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908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Name business owners for Sales, QC, Shipping, FSL, Purchasing, and Admin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7A837-897E-4840-9332-15C727F4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24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F4FF4-7501-4A25-9389-F15F0F2B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96240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E2D6E-1A43-4614-8A8F-454A11DF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766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Approve review of Super User, Waive MFA, Modify All Data, and View All Data assignments.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094B6-3E9E-49C6-B6BB-B9478C38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0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176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00C23-65CF-4F7E-8F7D-E7E12E0D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648200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5411A-B0A8-4421-BE1D-E017A858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624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Allow a pilot migration from direct assignments into governed job bundles.</a:t>
            </a:r>
          </a:p>
        </p:txBody>
      </p:sp>
    </p:spTree>
    <p:extLst>
      <p:ext uri="{BB962C8B-B14F-4D97-AF65-F5344CB8AC3E}">
        <p14:creationId xmlns:p14="http://schemas.microsoft.com/office/powerpoint/2010/main" val="1647737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2026-08-21T14:30:38.8580000Z</dcterms:created>
  <dcterms:modified xsi:type="dcterms:W3CDTF">2026-08-21T14:30:38.8580000Z</dcterms:modified>
</coreProperties>
</file>